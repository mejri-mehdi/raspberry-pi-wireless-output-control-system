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charset="1" panose="00000500000000000000"/>
      <p:regular r:id="rId22"/>
    </p:embeddedFont>
    <p:embeddedFont>
      <p:font typeface="Lato" charset="1" panose="020F0502020204030203"/>
      <p:regular r:id="rId23"/>
    </p:embeddedFont>
    <p:embeddedFont>
      <p:font typeface="Roboto Bold" charset="1" panose="02000000000000000000"/>
      <p:regular r:id="rId24"/>
    </p:embeddedFont>
    <p:embeddedFont>
      <p:font typeface="Poppins Bold" charset="1" panose="00000800000000000000"/>
      <p:regular r:id="rId25"/>
    </p:embeddedFont>
    <p:embeddedFont>
      <p:font typeface="Poppins Heavy" charset="1" panose="00000A00000000000000"/>
      <p:regular r:id="rId26"/>
    </p:embeddedFont>
    <p:embeddedFont>
      <p:font typeface="Lato Bold" charset="1" panose="020F0502020204030203"/>
      <p:regular r:id="rId27"/>
    </p:embeddedFont>
    <p:embeddedFont>
      <p:font typeface="Poppins Semi-Bold" charset="1" panose="00000700000000000000"/>
      <p:regular r:id="rId28"/>
    </p:embeddedFont>
    <p:embeddedFont>
      <p:font typeface="Lato Italics" charset="1" panose="020F05020202040302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154" y="7136935"/>
            <a:ext cx="3556447" cy="3249219"/>
            <a:chOff x="0" y="0"/>
            <a:chExt cx="1069957" cy="977527"/>
          </a:xfrm>
        </p:grpSpPr>
        <p:sp>
          <p:nvSpPr>
            <p:cNvPr name="Freeform 3" id="3"/>
            <p:cNvSpPr/>
            <p:nvPr/>
          </p:nvSpPr>
          <p:spPr>
            <a:xfrm flipH="false" flipV="false" rot="0">
              <a:off x="0" y="0"/>
              <a:ext cx="1069957" cy="977527"/>
            </a:xfrm>
            <a:custGeom>
              <a:avLst/>
              <a:gdLst/>
              <a:ahLst/>
              <a:cxnLst/>
              <a:rect r="r" b="b" t="t" l="l"/>
              <a:pathLst>
                <a:path h="977527" w="1069957">
                  <a:moveTo>
                    <a:pt x="0" y="0"/>
                  </a:moveTo>
                  <a:lnTo>
                    <a:pt x="1069957" y="0"/>
                  </a:lnTo>
                  <a:lnTo>
                    <a:pt x="1069957" y="977527"/>
                  </a:lnTo>
                  <a:lnTo>
                    <a:pt x="0" y="977527"/>
                  </a:lnTo>
                  <a:close/>
                </a:path>
              </a:pathLst>
            </a:custGeom>
            <a:solidFill>
              <a:srgbClr val="202020"/>
            </a:solidFill>
          </p:spPr>
        </p:sp>
        <p:sp>
          <p:nvSpPr>
            <p:cNvPr name="TextBox 4" id="4"/>
            <p:cNvSpPr txBox="true"/>
            <p:nvPr/>
          </p:nvSpPr>
          <p:spPr>
            <a:xfrm>
              <a:off x="0" y="-38100"/>
              <a:ext cx="1069957" cy="101562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2544189" y="2688154"/>
            <a:ext cx="10040128" cy="4350806"/>
          </a:xfrm>
          <a:custGeom>
            <a:avLst/>
            <a:gdLst/>
            <a:ahLst/>
            <a:cxnLst/>
            <a:rect r="r" b="b" t="t" l="l"/>
            <a:pathLst>
              <a:path h="4350806" w="10040128">
                <a:moveTo>
                  <a:pt x="0" y="0"/>
                </a:moveTo>
                <a:lnTo>
                  <a:pt x="10040128" y="0"/>
                </a:lnTo>
                <a:lnTo>
                  <a:pt x="10040128" y="4350806"/>
                </a:lnTo>
                <a:lnTo>
                  <a:pt x="0" y="4350806"/>
                </a:lnTo>
                <a:lnTo>
                  <a:pt x="0" y="0"/>
                </a:lnTo>
                <a:close/>
              </a:path>
            </a:pathLst>
          </a:custGeom>
          <a:blipFill>
            <a:blip r:embed="rId2"/>
            <a:stretch>
              <a:fillRect l="0" t="-34821" r="0" b="-949"/>
            </a:stretch>
          </a:blipFill>
        </p:spPr>
      </p:sp>
      <p:grpSp>
        <p:nvGrpSpPr>
          <p:cNvPr name="Group 6" id="6"/>
          <p:cNvGrpSpPr/>
          <p:nvPr/>
        </p:nvGrpSpPr>
        <p:grpSpPr>
          <a:xfrm rot="0">
            <a:off x="515245" y="0"/>
            <a:ext cx="6991788" cy="9759796"/>
            <a:chOff x="0" y="0"/>
            <a:chExt cx="1841458" cy="2570481"/>
          </a:xfrm>
        </p:grpSpPr>
        <p:sp>
          <p:nvSpPr>
            <p:cNvPr name="Freeform 7" id="7"/>
            <p:cNvSpPr/>
            <p:nvPr/>
          </p:nvSpPr>
          <p:spPr>
            <a:xfrm flipH="false" flipV="false" rot="0">
              <a:off x="0" y="0"/>
              <a:ext cx="1841459" cy="2570481"/>
            </a:xfrm>
            <a:custGeom>
              <a:avLst/>
              <a:gdLst/>
              <a:ahLst/>
              <a:cxnLst/>
              <a:rect r="r" b="b" t="t" l="l"/>
              <a:pathLst>
                <a:path h="2570481" w="1841459">
                  <a:moveTo>
                    <a:pt x="0" y="0"/>
                  </a:moveTo>
                  <a:lnTo>
                    <a:pt x="1841459" y="0"/>
                  </a:lnTo>
                  <a:lnTo>
                    <a:pt x="1841459" y="2570481"/>
                  </a:lnTo>
                  <a:lnTo>
                    <a:pt x="0" y="2570481"/>
                  </a:lnTo>
                  <a:close/>
                </a:path>
              </a:pathLst>
            </a:custGeom>
            <a:solidFill>
              <a:srgbClr val="EBE2D6"/>
            </a:solidFill>
          </p:spPr>
        </p:sp>
        <p:sp>
          <p:nvSpPr>
            <p:cNvPr name="TextBox 8" id="8"/>
            <p:cNvSpPr txBox="true"/>
            <p:nvPr/>
          </p:nvSpPr>
          <p:spPr>
            <a:xfrm>
              <a:off x="0" y="-38100"/>
              <a:ext cx="1841458" cy="2608581"/>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308766" y="4572581"/>
            <a:ext cx="5517638" cy="0"/>
          </a:xfrm>
          <a:prstGeom prst="line">
            <a:avLst/>
          </a:prstGeom>
          <a:ln cap="flat" w="19050">
            <a:solidFill>
              <a:srgbClr val="000000"/>
            </a:solidFill>
            <a:prstDash val="solid"/>
            <a:headEnd type="none" len="sm" w="sm"/>
            <a:tailEnd type="none" len="sm" w="sm"/>
          </a:ln>
        </p:spPr>
      </p:sp>
      <p:sp>
        <p:nvSpPr>
          <p:cNvPr name="TextBox 10" id="10"/>
          <p:cNvSpPr txBox="true"/>
          <p:nvPr/>
        </p:nvSpPr>
        <p:spPr>
          <a:xfrm rot="0">
            <a:off x="1308766" y="4797693"/>
            <a:ext cx="6359969" cy="3376968"/>
          </a:xfrm>
          <a:prstGeom prst="rect">
            <a:avLst/>
          </a:prstGeom>
        </p:spPr>
        <p:txBody>
          <a:bodyPr anchor="t" rtlCol="false" tIns="0" lIns="0" bIns="0" rIns="0">
            <a:spAutoFit/>
          </a:bodyPr>
          <a:lstStyle/>
          <a:p>
            <a:pPr algn="l">
              <a:lnSpc>
                <a:spcPts val="4442"/>
              </a:lnSpc>
            </a:pPr>
            <a:r>
              <a:rPr lang="en-US" sz="3173" spc="520">
                <a:solidFill>
                  <a:srgbClr val="000000"/>
                </a:solidFill>
                <a:latin typeface="Poppins"/>
                <a:ea typeface="Poppins"/>
                <a:cs typeface="Poppins"/>
                <a:sym typeface="Poppins"/>
              </a:rPr>
              <a:t>Réalisé par :</a:t>
            </a:r>
          </a:p>
          <a:p>
            <a:pPr algn="l">
              <a:lnSpc>
                <a:spcPts val="4442"/>
              </a:lnSpc>
            </a:pPr>
            <a:r>
              <a:rPr lang="en-US" sz="3173" spc="520">
                <a:solidFill>
                  <a:srgbClr val="000000"/>
                </a:solidFill>
                <a:latin typeface="Poppins"/>
                <a:ea typeface="Poppins"/>
                <a:cs typeface="Poppins"/>
                <a:sym typeface="Poppins"/>
              </a:rPr>
              <a:t>Mehdi Mejri</a:t>
            </a:r>
          </a:p>
          <a:p>
            <a:pPr algn="l">
              <a:lnSpc>
                <a:spcPts val="4442"/>
              </a:lnSpc>
            </a:pPr>
            <a:r>
              <a:rPr lang="en-US" sz="3173" spc="520">
                <a:solidFill>
                  <a:srgbClr val="000000"/>
                </a:solidFill>
                <a:latin typeface="Poppins"/>
                <a:ea typeface="Poppins"/>
                <a:cs typeface="Poppins"/>
                <a:sym typeface="Poppins"/>
              </a:rPr>
              <a:t>sur la supervision de </a:t>
            </a:r>
          </a:p>
          <a:p>
            <a:pPr algn="l">
              <a:lnSpc>
                <a:spcPts val="4442"/>
              </a:lnSpc>
            </a:pPr>
            <a:r>
              <a:rPr lang="en-US" sz="3173" spc="520">
                <a:solidFill>
                  <a:srgbClr val="000000"/>
                </a:solidFill>
                <a:latin typeface="Poppins"/>
                <a:ea typeface="Poppins"/>
                <a:cs typeface="Poppins"/>
                <a:sym typeface="Poppins"/>
              </a:rPr>
              <a:t>Ms.Hanen Karamti</a:t>
            </a:r>
          </a:p>
          <a:p>
            <a:pPr algn="l">
              <a:lnSpc>
                <a:spcPts val="4442"/>
              </a:lnSpc>
            </a:pPr>
          </a:p>
          <a:p>
            <a:pPr algn="l">
              <a:lnSpc>
                <a:spcPts val="4442"/>
              </a:lnSpc>
            </a:pPr>
          </a:p>
        </p:txBody>
      </p:sp>
      <p:sp>
        <p:nvSpPr>
          <p:cNvPr name="Freeform 11" id="11"/>
          <p:cNvSpPr/>
          <p:nvPr/>
        </p:nvSpPr>
        <p:spPr>
          <a:xfrm flipH="false" flipV="false" rot="0">
            <a:off x="8048231" y="0"/>
            <a:ext cx="9752267" cy="10656753"/>
          </a:xfrm>
          <a:custGeom>
            <a:avLst/>
            <a:gdLst/>
            <a:ahLst/>
            <a:cxnLst/>
            <a:rect r="r" b="b" t="t" l="l"/>
            <a:pathLst>
              <a:path h="10656753" w="9752267">
                <a:moveTo>
                  <a:pt x="0" y="0"/>
                </a:moveTo>
                <a:lnTo>
                  <a:pt x="9752268" y="0"/>
                </a:lnTo>
                <a:lnTo>
                  <a:pt x="9752268" y="10656753"/>
                </a:lnTo>
                <a:lnTo>
                  <a:pt x="0" y="10656753"/>
                </a:lnTo>
                <a:lnTo>
                  <a:pt x="0" y="0"/>
                </a:lnTo>
                <a:close/>
              </a:path>
            </a:pathLst>
          </a:custGeom>
          <a:blipFill>
            <a:blip r:embed="rId2">
              <a:alphaModFix amt="94000"/>
            </a:blip>
            <a:stretch>
              <a:fillRect l="-33349" t="0" r="-52379" b="0"/>
            </a:stretch>
          </a:blipFill>
        </p:spPr>
      </p:sp>
      <p:sp>
        <p:nvSpPr>
          <p:cNvPr name="Freeform 12" id="12"/>
          <p:cNvSpPr/>
          <p:nvPr/>
        </p:nvSpPr>
        <p:spPr>
          <a:xfrm flipH="false" flipV="false" rot="0">
            <a:off x="7657906" y="1757925"/>
            <a:ext cx="10532918" cy="6243946"/>
          </a:xfrm>
          <a:custGeom>
            <a:avLst/>
            <a:gdLst/>
            <a:ahLst/>
            <a:cxnLst/>
            <a:rect r="r" b="b" t="t" l="l"/>
            <a:pathLst>
              <a:path h="6243946" w="10532918">
                <a:moveTo>
                  <a:pt x="0" y="0"/>
                </a:moveTo>
                <a:lnTo>
                  <a:pt x="10532918" y="0"/>
                </a:lnTo>
                <a:lnTo>
                  <a:pt x="10532918" y="6243946"/>
                </a:lnTo>
                <a:lnTo>
                  <a:pt x="0" y="6243946"/>
                </a:lnTo>
                <a:lnTo>
                  <a:pt x="0" y="0"/>
                </a:lnTo>
                <a:close/>
              </a:path>
            </a:pathLst>
          </a:custGeom>
          <a:blipFill>
            <a:blip r:embed="rId3"/>
            <a:stretch>
              <a:fillRect l="-9007" t="-1895" r="-2354" b="-1895"/>
            </a:stretch>
          </a:blipFill>
        </p:spPr>
      </p:sp>
      <p:sp>
        <p:nvSpPr>
          <p:cNvPr name="Freeform 13" id="13"/>
          <p:cNvSpPr/>
          <p:nvPr/>
        </p:nvSpPr>
        <p:spPr>
          <a:xfrm flipH="false" flipV="false" rot="0">
            <a:off x="740985" y="188645"/>
            <a:ext cx="1382596" cy="1304787"/>
          </a:xfrm>
          <a:custGeom>
            <a:avLst/>
            <a:gdLst/>
            <a:ahLst/>
            <a:cxnLst/>
            <a:rect r="r" b="b" t="t" l="l"/>
            <a:pathLst>
              <a:path h="1304787" w="1382596">
                <a:moveTo>
                  <a:pt x="0" y="0"/>
                </a:moveTo>
                <a:lnTo>
                  <a:pt x="1382596" y="0"/>
                </a:lnTo>
                <a:lnTo>
                  <a:pt x="1382596" y="1304787"/>
                </a:lnTo>
                <a:lnTo>
                  <a:pt x="0" y="1304787"/>
                </a:lnTo>
                <a:lnTo>
                  <a:pt x="0" y="0"/>
                </a:lnTo>
                <a:close/>
              </a:path>
            </a:pathLst>
          </a:custGeom>
          <a:blipFill>
            <a:blip r:embed="rId4"/>
            <a:stretch>
              <a:fillRect l="0" t="0" r="0" b="0"/>
            </a:stretch>
          </a:blipFill>
        </p:spPr>
      </p:sp>
      <p:sp>
        <p:nvSpPr>
          <p:cNvPr name="TextBox 14" id="14"/>
          <p:cNvSpPr txBox="true"/>
          <p:nvPr/>
        </p:nvSpPr>
        <p:spPr>
          <a:xfrm rot="0">
            <a:off x="11314809" y="605752"/>
            <a:ext cx="5944491" cy="422948"/>
          </a:xfrm>
          <a:prstGeom prst="rect">
            <a:avLst/>
          </a:prstGeom>
        </p:spPr>
        <p:txBody>
          <a:bodyPr anchor="t" rtlCol="false" tIns="0" lIns="0" bIns="0" rIns="0">
            <a:spAutoFit/>
          </a:bodyPr>
          <a:lstStyle/>
          <a:p>
            <a:pPr algn="r">
              <a:lnSpc>
                <a:spcPts val="3462"/>
              </a:lnSpc>
            </a:pPr>
            <a:r>
              <a:rPr lang="en-US" sz="2473" spc="650">
                <a:solidFill>
                  <a:srgbClr val="000000"/>
                </a:solidFill>
                <a:latin typeface="Lato"/>
                <a:ea typeface="Lato"/>
                <a:cs typeface="Lato"/>
                <a:sym typeface="Lato"/>
              </a:rPr>
              <a:t>ISAMM</a:t>
            </a:r>
          </a:p>
        </p:txBody>
      </p:sp>
      <p:sp>
        <p:nvSpPr>
          <p:cNvPr name="TextBox 15" id="15"/>
          <p:cNvSpPr txBox="true"/>
          <p:nvPr/>
        </p:nvSpPr>
        <p:spPr>
          <a:xfrm rot="0">
            <a:off x="1308766" y="2441040"/>
            <a:ext cx="5841058" cy="1867952"/>
          </a:xfrm>
          <a:prstGeom prst="rect">
            <a:avLst/>
          </a:prstGeom>
        </p:spPr>
        <p:txBody>
          <a:bodyPr anchor="t" rtlCol="false" tIns="0" lIns="0" bIns="0" rIns="0">
            <a:spAutoFit/>
          </a:bodyPr>
          <a:lstStyle/>
          <a:p>
            <a:pPr algn="ctr">
              <a:lnSpc>
                <a:spcPts val="7282"/>
              </a:lnSpc>
            </a:pPr>
            <a:r>
              <a:rPr lang="en-US" sz="6388" b="true">
                <a:solidFill>
                  <a:srgbClr val="000000"/>
                </a:solidFill>
                <a:latin typeface="Roboto Bold"/>
                <a:ea typeface="Roboto Bold"/>
                <a:cs typeface="Roboto Bold"/>
                <a:sym typeface="Roboto Bold"/>
              </a:rPr>
              <a:t>Alimentation Master</a:t>
            </a:r>
          </a:p>
        </p:txBody>
      </p:sp>
      <p:sp>
        <p:nvSpPr>
          <p:cNvPr name="TextBox 16" id="16"/>
          <p:cNvSpPr txBox="true"/>
          <p:nvPr/>
        </p:nvSpPr>
        <p:spPr>
          <a:xfrm rot="0">
            <a:off x="7873117" y="9262855"/>
            <a:ext cx="3826560" cy="356907"/>
          </a:xfrm>
          <a:prstGeom prst="rect">
            <a:avLst/>
          </a:prstGeom>
        </p:spPr>
        <p:txBody>
          <a:bodyPr anchor="t" rtlCol="false" tIns="0" lIns="0" bIns="0" rIns="0">
            <a:spAutoFit/>
          </a:bodyPr>
          <a:lstStyle/>
          <a:p>
            <a:pPr algn="just">
              <a:lnSpc>
                <a:spcPts val="2902"/>
              </a:lnSpc>
            </a:pPr>
            <a:r>
              <a:rPr lang="en-US" sz="2073">
                <a:solidFill>
                  <a:srgbClr val="000000"/>
                </a:solidFill>
                <a:latin typeface="Lato"/>
                <a:ea typeface="Lato"/>
                <a:cs typeface="Lato"/>
                <a:sym typeface="Lato"/>
              </a:rPr>
              <a:t>12/30/2024</a:t>
            </a:r>
          </a:p>
        </p:txBody>
      </p:sp>
      <p:sp>
        <p:nvSpPr>
          <p:cNvPr name="TextBox 17" id="17"/>
          <p:cNvSpPr txBox="true"/>
          <p:nvPr/>
        </p:nvSpPr>
        <p:spPr>
          <a:xfrm rot="0">
            <a:off x="1308766" y="8097795"/>
            <a:ext cx="4040889" cy="1642814"/>
          </a:xfrm>
          <a:prstGeom prst="rect">
            <a:avLst/>
          </a:prstGeom>
        </p:spPr>
        <p:txBody>
          <a:bodyPr anchor="t" rtlCol="false" tIns="0" lIns="0" bIns="0" rIns="0">
            <a:spAutoFit/>
          </a:bodyPr>
          <a:lstStyle/>
          <a:p>
            <a:pPr algn="just">
              <a:lnSpc>
                <a:spcPts val="6375"/>
              </a:lnSpc>
            </a:pPr>
            <a:r>
              <a:rPr lang="en-US" sz="5592" b="true">
                <a:solidFill>
                  <a:srgbClr val="000000"/>
                </a:solidFill>
                <a:latin typeface="Roboto Bold"/>
                <a:ea typeface="Roboto Bold"/>
                <a:cs typeface="Roboto Bold"/>
                <a:sym typeface="Roboto Bold"/>
              </a:rPr>
              <a:t>2024-2025</a:t>
            </a:r>
          </a:p>
          <a:p>
            <a:pPr algn="just">
              <a:lnSpc>
                <a:spcPts val="6375"/>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0878" y="537364"/>
            <a:ext cx="11467122" cy="9222432"/>
            <a:chOff x="0" y="0"/>
            <a:chExt cx="3020147" cy="2428953"/>
          </a:xfrm>
        </p:grpSpPr>
        <p:sp>
          <p:nvSpPr>
            <p:cNvPr name="Freeform 3" id="3"/>
            <p:cNvSpPr/>
            <p:nvPr/>
          </p:nvSpPr>
          <p:spPr>
            <a:xfrm flipH="false" flipV="false" rot="0">
              <a:off x="0" y="0"/>
              <a:ext cx="3020147" cy="2428953"/>
            </a:xfrm>
            <a:custGeom>
              <a:avLst/>
              <a:gdLst/>
              <a:ahLst/>
              <a:cxnLst/>
              <a:rect r="r" b="b" t="t" l="l"/>
              <a:pathLst>
                <a:path h="2428953" w="3020147">
                  <a:moveTo>
                    <a:pt x="0" y="0"/>
                  </a:moveTo>
                  <a:lnTo>
                    <a:pt x="3020147" y="0"/>
                  </a:lnTo>
                  <a:lnTo>
                    <a:pt x="3020147" y="2428953"/>
                  </a:lnTo>
                  <a:lnTo>
                    <a:pt x="0" y="2428953"/>
                  </a:lnTo>
                  <a:close/>
                </a:path>
              </a:pathLst>
            </a:custGeom>
            <a:solidFill>
              <a:srgbClr val="F8F5F1"/>
            </a:solidFill>
          </p:spPr>
        </p:sp>
        <p:sp>
          <p:nvSpPr>
            <p:cNvPr name="TextBox 4" id="4"/>
            <p:cNvSpPr txBox="true"/>
            <p:nvPr/>
          </p:nvSpPr>
          <p:spPr>
            <a:xfrm>
              <a:off x="0" y="-38100"/>
              <a:ext cx="3020147" cy="246705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14350" y="1028700"/>
            <a:ext cx="8636880" cy="8743950"/>
            <a:chOff x="0" y="0"/>
            <a:chExt cx="1338079" cy="1354667"/>
          </a:xfrm>
        </p:grpSpPr>
        <p:sp>
          <p:nvSpPr>
            <p:cNvPr name="Freeform 6" id="6"/>
            <p:cNvSpPr/>
            <p:nvPr/>
          </p:nvSpPr>
          <p:spPr>
            <a:xfrm flipH="false" flipV="false" rot="0">
              <a:off x="0" y="0"/>
              <a:ext cx="1338079" cy="1354667"/>
            </a:xfrm>
            <a:custGeom>
              <a:avLst/>
              <a:gdLst/>
              <a:ahLst/>
              <a:cxnLst/>
              <a:rect r="r" b="b" t="t" l="l"/>
              <a:pathLst>
                <a:path h="1354667" w="1338079">
                  <a:moveTo>
                    <a:pt x="0" y="0"/>
                  </a:moveTo>
                  <a:lnTo>
                    <a:pt x="1338079" y="0"/>
                  </a:lnTo>
                  <a:lnTo>
                    <a:pt x="1338079" y="1354667"/>
                  </a:lnTo>
                  <a:lnTo>
                    <a:pt x="0" y="1354667"/>
                  </a:lnTo>
                  <a:close/>
                </a:path>
              </a:pathLst>
            </a:custGeom>
            <a:blipFill>
              <a:blip r:embed="rId2"/>
              <a:stretch>
                <a:fillRect l="0" t="-11957" r="-133103" b="-13528"/>
              </a:stretch>
            </a:blipFill>
          </p:spPr>
        </p:sp>
      </p:grpSp>
      <p:grpSp>
        <p:nvGrpSpPr>
          <p:cNvPr name="Group 7" id="7"/>
          <p:cNvGrpSpPr/>
          <p:nvPr/>
        </p:nvGrpSpPr>
        <p:grpSpPr>
          <a:xfrm rot="0">
            <a:off x="0" y="5279167"/>
            <a:ext cx="4967240" cy="5007833"/>
            <a:chOff x="0" y="0"/>
            <a:chExt cx="1308244" cy="1318935"/>
          </a:xfrm>
        </p:grpSpPr>
        <p:sp>
          <p:nvSpPr>
            <p:cNvPr name="Freeform 8" id="8"/>
            <p:cNvSpPr/>
            <p:nvPr/>
          </p:nvSpPr>
          <p:spPr>
            <a:xfrm flipH="false" flipV="false" rot="0">
              <a:off x="0" y="0"/>
              <a:ext cx="1308244" cy="1318935"/>
            </a:xfrm>
            <a:custGeom>
              <a:avLst/>
              <a:gdLst/>
              <a:ahLst/>
              <a:cxnLst/>
              <a:rect r="r" b="b" t="t" l="l"/>
              <a:pathLst>
                <a:path h="1318935" w="1308244">
                  <a:moveTo>
                    <a:pt x="0" y="0"/>
                  </a:moveTo>
                  <a:lnTo>
                    <a:pt x="1308244" y="0"/>
                  </a:lnTo>
                  <a:lnTo>
                    <a:pt x="1308244" y="1318935"/>
                  </a:lnTo>
                  <a:lnTo>
                    <a:pt x="0" y="1318935"/>
                  </a:lnTo>
                  <a:close/>
                </a:path>
              </a:pathLst>
            </a:custGeom>
            <a:solidFill>
              <a:srgbClr val="202020"/>
            </a:solidFill>
          </p:spPr>
        </p:sp>
        <p:sp>
          <p:nvSpPr>
            <p:cNvPr name="TextBox 9" id="9"/>
            <p:cNvSpPr txBox="true"/>
            <p:nvPr/>
          </p:nvSpPr>
          <p:spPr>
            <a:xfrm>
              <a:off x="0" y="-38100"/>
              <a:ext cx="1308244" cy="1357035"/>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40579" y="5677308"/>
            <a:ext cx="4286081" cy="1178355"/>
          </a:xfrm>
          <a:prstGeom prst="rect">
            <a:avLst/>
          </a:prstGeom>
        </p:spPr>
        <p:txBody>
          <a:bodyPr anchor="t" rtlCol="false" tIns="0" lIns="0" bIns="0" rIns="0">
            <a:spAutoFit/>
          </a:bodyPr>
          <a:lstStyle/>
          <a:p>
            <a:pPr algn="just">
              <a:lnSpc>
                <a:spcPts val="9587"/>
              </a:lnSpc>
            </a:pPr>
            <a:r>
              <a:rPr lang="en-US" sz="6847" b="true">
                <a:solidFill>
                  <a:srgbClr val="FFFFFF"/>
                </a:solidFill>
                <a:latin typeface="Roboto Bold"/>
                <a:ea typeface="Roboto Bold"/>
                <a:cs typeface="Roboto Bold"/>
                <a:sym typeface="Roboto Bold"/>
              </a:rPr>
              <a:t>Sommaire</a:t>
            </a:r>
          </a:p>
        </p:txBody>
      </p:sp>
      <p:sp>
        <p:nvSpPr>
          <p:cNvPr name="TextBox 11" id="11"/>
          <p:cNvSpPr txBox="true"/>
          <p:nvPr/>
        </p:nvSpPr>
        <p:spPr>
          <a:xfrm rot="0">
            <a:off x="10603810" y="2413230"/>
            <a:ext cx="3485498" cy="879917"/>
          </a:xfrm>
          <a:prstGeom prst="rect">
            <a:avLst/>
          </a:prstGeom>
        </p:spPr>
        <p:txBody>
          <a:bodyPr anchor="t" rtlCol="false" tIns="0" lIns="0" bIns="0" rIns="0">
            <a:spAutoFit/>
          </a:bodyPr>
          <a:lstStyle/>
          <a:p>
            <a:pPr algn="l">
              <a:lnSpc>
                <a:spcPts val="3475"/>
              </a:lnSpc>
            </a:pPr>
            <a:r>
              <a:rPr lang="en-US" sz="2482" b="true">
                <a:solidFill>
                  <a:srgbClr val="000000"/>
                </a:solidFill>
                <a:latin typeface="Poppins Bold"/>
                <a:ea typeface="Poppins Bold"/>
                <a:cs typeface="Poppins Bold"/>
                <a:sym typeface="Poppins Bold"/>
              </a:rPr>
              <a:t>INTRODUCTION</a:t>
            </a:r>
          </a:p>
          <a:p>
            <a:pPr algn="l">
              <a:lnSpc>
                <a:spcPts val="3475"/>
              </a:lnSpc>
            </a:pPr>
          </a:p>
        </p:txBody>
      </p:sp>
      <p:sp>
        <p:nvSpPr>
          <p:cNvPr name="TextBox 12" id="12"/>
          <p:cNvSpPr txBox="true"/>
          <p:nvPr/>
        </p:nvSpPr>
        <p:spPr>
          <a:xfrm rot="0">
            <a:off x="10603810" y="3380932"/>
            <a:ext cx="3485498" cy="879917"/>
          </a:xfrm>
          <a:prstGeom prst="rect">
            <a:avLst/>
          </a:prstGeom>
        </p:spPr>
        <p:txBody>
          <a:bodyPr anchor="t" rtlCol="false" tIns="0" lIns="0" bIns="0" rIns="0">
            <a:spAutoFit/>
          </a:bodyPr>
          <a:lstStyle/>
          <a:p>
            <a:pPr algn="l">
              <a:lnSpc>
                <a:spcPts val="3475"/>
              </a:lnSpc>
            </a:pPr>
            <a:r>
              <a:rPr lang="en-US" sz="2482" b="true">
                <a:solidFill>
                  <a:srgbClr val="000000"/>
                </a:solidFill>
                <a:latin typeface="Poppins Bold"/>
                <a:ea typeface="Poppins Bold"/>
                <a:cs typeface="Poppins Bold"/>
                <a:sym typeface="Poppins Bold"/>
              </a:rPr>
              <a:t>PROBLÉMATIQUE</a:t>
            </a:r>
          </a:p>
          <a:p>
            <a:pPr algn="l">
              <a:lnSpc>
                <a:spcPts val="3475"/>
              </a:lnSpc>
            </a:pPr>
          </a:p>
        </p:txBody>
      </p:sp>
      <p:sp>
        <p:nvSpPr>
          <p:cNvPr name="TextBox 13" id="13"/>
          <p:cNvSpPr txBox="true"/>
          <p:nvPr/>
        </p:nvSpPr>
        <p:spPr>
          <a:xfrm rot="0">
            <a:off x="10603810" y="4399250"/>
            <a:ext cx="3485498" cy="879917"/>
          </a:xfrm>
          <a:prstGeom prst="rect">
            <a:avLst/>
          </a:prstGeom>
        </p:spPr>
        <p:txBody>
          <a:bodyPr anchor="t" rtlCol="false" tIns="0" lIns="0" bIns="0" rIns="0">
            <a:spAutoFit/>
          </a:bodyPr>
          <a:lstStyle/>
          <a:p>
            <a:pPr algn="l">
              <a:lnSpc>
                <a:spcPts val="3475"/>
              </a:lnSpc>
            </a:pPr>
            <a:r>
              <a:rPr lang="en-US" sz="2482" b="true">
                <a:solidFill>
                  <a:srgbClr val="000000"/>
                </a:solidFill>
                <a:latin typeface="Poppins Bold"/>
                <a:ea typeface="Poppins Bold"/>
                <a:cs typeface="Poppins Bold"/>
                <a:sym typeface="Poppins Bold"/>
              </a:rPr>
              <a:t>SOLUTION</a:t>
            </a:r>
          </a:p>
          <a:p>
            <a:pPr algn="l">
              <a:lnSpc>
                <a:spcPts val="3475"/>
              </a:lnSpc>
            </a:pPr>
          </a:p>
        </p:txBody>
      </p:sp>
      <p:sp>
        <p:nvSpPr>
          <p:cNvPr name="TextBox 14" id="14"/>
          <p:cNvSpPr txBox="true"/>
          <p:nvPr/>
        </p:nvSpPr>
        <p:spPr>
          <a:xfrm rot="0">
            <a:off x="10603810" y="5346886"/>
            <a:ext cx="3485498" cy="879917"/>
          </a:xfrm>
          <a:prstGeom prst="rect">
            <a:avLst/>
          </a:prstGeom>
        </p:spPr>
        <p:txBody>
          <a:bodyPr anchor="t" rtlCol="false" tIns="0" lIns="0" bIns="0" rIns="0">
            <a:spAutoFit/>
          </a:bodyPr>
          <a:lstStyle/>
          <a:p>
            <a:pPr algn="l">
              <a:lnSpc>
                <a:spcPts val="3475"/>
              </a:lnSpc>
            </a:pPr>
            <a:r>
              <a:rPr lang="en-US" sz="2482" b="true">
                <a:solidFill>
                  <a:srgbClr val="000000"/>
                </a:solidFill>
                <a:latin typeface="Poppins Bold"/>
                <a:ea typeface="Poppins Bold"/>
                <a:cs typeface="Poppins Bold"/>
                <a:sym typeface="Poppins Bold"/>
              </a:rPr>
              <a:t>METHODOLOGIE</a:t>
            </a:r>
          </a:p>
          <a:p>
            <a:pPr algn="l">
              <a:lnSpc>
                <a:spcPts val="3475"/>
              </a:lnSpc>
            </a:pPr>
          </a:p>
        </p:txBody>
      </p:sp>
      <p:sp>
        <p:nvSpPr>
          <p:cNvPr name="TextBox 15" id="15"/>
          <p:cNvSpPr txBox="true"/>
          <p:nvPr/>
        </p:nvSpPr>
        <p:spPr>
          <a:xfrm rot="0">
            <a:off x="10603810" y="6293479"/>
            <a:ext cx="3485498" cy="879917"/>
          </a:xfrm>
          <a:prstGeom prst="rect">
            <a:avLst/>
          </a:prstGeom>
        </p:spPr>
        <p:txBody>
          <a:bodyPr anchor="t" rtlCol="false" tIns="0" lIns="0" bIns="0" rIns="0">
            <a:spAutoFit/>
          </a:bodyPr>
          <a:lstStyle/>
          <a:p>
            <a:pPr algn="l">
              <a:lnSpc>
                <a:spcPts val="3475"/>
              </a:lnSpc>
            </a:pPr>
            <a:r>
              <a:rPr lang="en-US" sz="2482" b="true">
                <a:solidFill>
                  <a:srgbClr val="000000"/>
                </a:solidFill>
                <a:latin typeface="Poppins Bold"/>
                <a:ea typeface="Poppins Bold"/>
                <a:cs typeface="Poppins Bold"/>
                <a:sym typeface="Poppins Bold"/>
              </a:rPr>
              <a:t>RESULTAT</a:t>
            </a:r>
          </a:p>
          <a:p>
            <a:pPr algn="l">
              <a:lnSpc>
                <a:spcPts val="3475"/>
              </a:lnSpc>
            </a:pPr>
          </a:p>
        </p:txBody>
      </p:sp>
      <p:sp>
        <p:nvSpPr>
          <p:cNvPr name="TextBox 16" id="16"/>
          <p:cNvSpPr txBox="true"/>
          <p:nvPr/>
        </p:nvSpPr>
        <p:spPr>
          <a:xfrm rot="0">
            <a:off x="10603810" y="7330120"/>
            <a:ext cx="3485498" cy="800542"/>
          </a:xfrm>
          <a:prstGeom prst="rect">
            <a:avLst/>
          </a:prstGeom>
        </p:spPr>
        <p:txBody>
          <a:bodyPr anchor="t" rtlCol="false" tIns="0" lIns="0" bIns="0" rIns="0">
            <a:spAutoFit/>
          </a:bodyPr>
          <a:lstStyle/>
          <a:p>
            <a:pPr algn="l">
              <a:lnSpc>
                <a:spcPts val="3475"/>
              </a:lnSpc>
            </a:pPr>
            <a:r>
              <a:rPr lang="en-US" sz="2482" b="true">
                <a:solidFill>
                  <a:srgbClr val="000000"/>
                </a:solidFill>
                <a:latin typeface="Poppins Bold"/>
                <a:ea typeface="Poppins Bold"/>
                <a:cs typeface="Poppins Bold"/>
                <a:sym typeface="Poppins Bold"/>
              </a:rPr>
              <a:t>CONCLUSION</a:t>
            </a:r>
          </a:p>
          <a:p>
            <a:pPr algn="l">
              <a:lnSpc>
                <a:spcPts val="2775"/>
              </a:lnSpc>
            </a:pPr>
          </a:p>
        </p:txBody>
      </p:sp>
      <p:sp>
        <p:nvSpPr>
          <p:cNvPr name="TextBox 17" id="17"/>
          <p:cNvSpPr txBox="true"/>
          <p:nvPr/>
        </p:nvSpPr>
        <p:spPr>
          <a:xfrm rot="0">
            <a:off x="15087625" y="2411720"/>
            <a:ext cx="1048144" cy="408747"/>
          </a:xfrm>
          <a:prstGeom prst="rect">
            <a:avLst/>
          </a:prstGeom>
        </p:spPr>
        <p:txBody>
          <a:bodyPr anchor="t" rtlCol="false" tIns="0" lIns="0" bIns="0" rIns="0">
            <a:spAutoFit/>
          </a:bodyPr>
          <a:lstStyle/>
          <a:p>
            <a:pPr algn="l">
              <a:lnSpc>
                <a:spcPts val="3195"/>
              </a:lnSpc>
            </a:pPr>
            <a:r>
              <a:rPr lang="en-US" sz="2282" b="true">
                <a:solidFill>
                  <a:srgbClr val="000000"/>
                </a:solidFill>
                <a:latin typeface="Poppins Heavy"/>
                <a:ea typeface="Poppins Heavy"/>
                <a:cs typeface="Poppins Heavy"/>
                <a:sym typeface="Poppins Heavy"/>
              </a:rPr>
              <a:t>1</a:t>
            </a:r>
          </a:p>
        </p:txBody>
      </p:sp>
      <p:sp>
        <p:nvSpPr>
          <p:cNvPr name="TextBox 18" id="18"/>
          <p:cNvSpPr txBox="true"/>
          <p:nvPr/>
        </p:nvSpPr>
        <p:spPr>
          <a:xfrm rot="0">
            <a:off x="15087625" y="3382442"/>
            <a:ext cx="1048144" cy="408747"/>
          </a:xfrm>
          <a:prstGeom prst="rect">
            <a:avLst/>
          </a:prstGeom>
        </p:spPr>
        <p:txBody>
          <a:bodyPr anchor="t" rtlCol="false" tIns="0" lIns="0" bIns="0" rIns="0">
            <a:spAutoFit/>
          </a:bodyPr>
          <a:lstStyle/>
          <a:p>
            <a:pPr algn="l">
              <a:lnSpc>
                <a:spcPts val="3195"/>
              </a:lnSpc>
            </a:pPr>
            <a:r>
              <a:rPr lang="en-US" sz="2282" b="true">
                <a:solidFill>
                  <a:srgbClr val="000000"/>
                </a:solidFill>
                <a:latin typeface="Poppins Heavy"/>
                <a:ea typeface="Poppins Heavy"/>
                <a:cs typeface="Poppins Heavy"/>
                <a:sym typeface="Poppins Heavy"/>
              </a:rPr>
              <a:t>2</a:t>
            </a:r>
          </a:p>
        </p:txBody>
      </p:sp>
      <p:sp>
        <p:nvSpPr>
          <p:cNvPr name="TextBox 19" id="19"/>
          <p:cNvSpPr txBox="true"/>
          <p:nvPr/>
        </p:nvSpPr>
        <p:spPr>
          <a:xfrm rot="0">
            <a:off x="15087625" y="4351654"/>
            <a:ext cx="1048144" cy="408747"/>
          </a:xfrm>
          <a:prstGeom prst="rect">
            <a:avLst/>
          </a:prstGeom>
        </p:spPr>
        <p:txBody>
          <a:bodyPr anchor="t" rtlCol="false" tIns="0" lIns="0" bIns="0" rIns="0">
            <a:spAutoFit/>
          </a:bodyPr>
          <a:lstStyle/>
          <a:p>
            <a:pPr algn="l">
              <a:lnSpc>
                <a:spcPts val="3195"/>
              </a:lnSpc>
            </a:pPr>
            <a:r>
              <a:rPr lang="en-US" sz="2282" b="true">
                <a:solidFill>
                  <a:srgbClr val="000000"/>
                </a:solidFill>
                <a:latin typeface="Poppins Heavy"/>
                <a:ea typeface="Poppins Heavy"/>
                <a:cs typeface="Poppins Heavy"/>
                <a:sym typeface="Poppins Heavy"/>
              </a:rPr>
              <a:t>3</a:t>
            </a:r>
          </a:p>
        </p:txBody>
      </p:sp>
      <p:sp>
        <p:nvSpPr>
          <p:cNvPr name="TextBox 20" id="20"/>
          <p:cNvSpPr txBox="true"/>
          <p:nvPr/>
        </p:nvSpPr>
        <p:spPr>
          <a:xfrm rot="0">
            <a:off x="15087625" y="5322377"/>
            <a:ext cx="1048144" cy="408747"/>
          </a:xfrm>
          <a:prstGeom prst="rect">
            <a:avLst/>
          </a:prstGeom>
        </p:spPr>
        <p:txBody>
          <a:bodyPr anchor="t" rtlCol="false" tIns="0" lIns="0" bIns="0" rIns="0">
            <a:spAutoFit/>
          </a:bodyPr>
          <a:lstStyle/>
          <a:p>
            <a:pPr algn="l">
              <a:lnSpc>
                <a:spcPts val="3195"/>
              </a:lnSpc>
            </a:pPr>
            <a:r>
              <a:rPr lang="en-US" sz="2282" b="true">
                <a:solidFill>
                  <a:srgbClr val="000000"/>
                </a:solidFill>
                <a:latin typeface="Poppins Heavy"/>
                <a:ea typeface="Poppins Heavy"/>
                <a:cs typeface="Poppins Heavy"/>
                <a:sym typeface="Poppins Heavy"/>
              </a:rPr>
              <a:t>4</a:t>
            </a:r>
          </a:p>
        </p:txBody>
      </p:sp>
      <p:sp>
        <p:nvSpPr>
          <p:cNvPr name="TextBox 21" id="21"/>
          <p:cNvSpPr txBox="true"/>
          <p:nvPr/>
        </p:nvSpPr>
        <p:spPr>
          <a:xfrm rot="0">
            <a:off x="15087625" y="6382158"/>
            <a:ext cx="1048144" cy="408747"/>
          </a:xfrm>
          <a:prstGeom prst="rect">
            <a:avLst/>
          </a:prstGeom>
        </p:spPr>
        <p:txBody>
          <a:bodyPr anchor="t" rtlCol="false" tIns="0" lIns="0" bIns="0" rIns="0">
            <a:spAutoFit/>
          </a:bodyPr>
          <a:lstStyle/>
          <a:p>
            <a:pPr algn="l">
              <a:lnSpc>
                <a:spcPts val="3195"/>
              </a:lnSpc>
            </a:pPr>
            <a:r>
              <a:rPr lang="en-US" sz="2282" b="true">
                <a:solidFill>
                  <a:srgbClr val="000000"/>
                </a:solidFill>
                <a:latin typeface="Poppins Heavy"/>
                <a:ea typeface="Poppins Heavy"/>
                <a:cs typeface="Poppins Heavy"/>
                <a:sym typeface="Poppins Heavy"/>
              </a:rPr>
              <a:t>5</a:t>
            </a:r>
          </a:p>
        </p:txBody>
      </p:sp>
      <p:sp>
        <p:nvSpPr>
          <p:cNvPr name="TextBox 22" id="22"/>
          <p:cNvSpPr txBox="true"/>
          <p:nvPr/>
        </p:nvSpPr>
        <p:spPr>
          <a:xfrm rot="0">
            <a:off x="15087625" y="7352880"/>
            <a:ext cx="1048144" cy="408747"/>
          </a:xfrm>
          <a:prstGeom prst="rect">
            <a:avLst/>
          </a:prstGeom>
        </p:spPr>
        <p:txBody>
          <a:bodyPr anchor="t" rtlCol="false" tIns="0" lIns="0" bIns="0" rIns="0">
            <a:spAutoFit/>
          </a:bodyPr>
          <a:lstStyle/>
          <a:p>
            <a:pPr algn="l">
              <a:lnSpc>
                <a:spcPts val="3195"/>
              </a:lnSpc>
            </a:pPr>
            <a:r>
              <a:rPr lang="en-US" sz="2282" b="true">
                <a:solidFill>
                  <a:srgbClr val="000000"/>
                </a:solidFill>
                <a:latin typeface="Poppins Heavy"/>
                <a:ea typeface="Poppins Heavy"/>
                <a:cs typeface="Poppins Heavy"/>
                <a:sym typeface="Poppins Heavy"/>
              </a:rPr>
              <a:t>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522315" y="3429000"/>
            <a:ext cx="4765685" cy="6858000"/>
            <a:chOff x="0" y="0"/>
            <a:chExt cx="1433756" cy="2063228"/>
          </a:xfrm>
        </p:grpSpPr>
        <p:sp>
          <p:nvSpPr>
            <p:cNvPr name="Freeform 3" id="3"/>
            <p:cNvSpPr/>
            <p:nvPr/>
          </p:nvSpPr>
          <p:spPr>
            <a:xfrm flipH="false" flipV="false" rot="0">
              <a:off x="0" y="0"/>
              <a:ext cx="1433756" cy="2063228"/>
            </a:xfrm>
            <a:custGeom>
              <a:avLst/>
              <a:gdLst/>
              <a:ahLst/>
              <a:cxnLst/>
              <a:rect r="r" b="b" t="t" l="l"/>
              <a:pathLst>
                <a:path h="2063228" w="1433756">
                  <a:moveTo>
                    <a:pt x="0" y="0"/>
                  </a:moveTo>
                  <a:lnTo>
                    <a:pt x="1433756" y="0"/>
                  </a:lnTo>
                  <a:lnTo>
                    <a:pt x="1433756" y="2063228"/>
                  </a:lnTo>
                  <a:lnTo>
                    <a:pt x="0" y="2063228"/>
                  </a:lnTo>
                  <a:close/>
                </a:path>
              </a:pathLst>
            </a:custGeom>
            <a:solidFill>
              <a:srgbClr val="EBE2D6"/>
            </a:solidFill>
          </p:spPr>
        </p:sp>
        <p:sp>
          <p:nvSpPr>
            <p:cNvPr name="TextBox 4" id="4"/>
            <p:cNvSpPr txBox="true"/>
            <p:nvPr/>
          </p:nvSpPr>
          <p:spPr>
            <a:xfrm>
              <a:off x="0" y="-38100"/>
              <a:ext cx="1433756" cy="21013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349683" y="9345065"/>
            <a:ext cx="423967" cy="427585"/>
            <a:chOff x="0" y="0"/>
            <a:chExt cx="205716" cy="207472"/>
          </a:xfrm>
        </p:grpSpPr>
        <p:sp>
          <p:nvSpPr>
            <p:cNvPr name="Freeform 6" id="6"/>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7" id="7"/>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3</a:t>
              </a:r>
            </a:p>
          </p:txBody>
        </p:sp>
      </p:grpSp>
      <p:sp>
        <p:nvSpPr>
          <p:cNvPr name="Freeform 8" id="8"/>
          <p:cNvSpPr/>
          <p:nvPr/>
        </p:nvSpPr>
        <p:spPr>
          <a:xfrm flipH="false" flipV="false" rot="0">
            <a:off x="9527349" y="2051843"/>
            <a:ext cx="8417667" cy="6633167"/>
          </a:xfrm>
          <a:custGeom>
            <a:avLst/>
            <a:gdLst/>
            <a:ahLst/>
            <a:cxnLst/>
            <a:rect r="r" b="b" t="t" l="l"/>
            <a:pathLst>
              <a:path h="6633167" w="8417667">
                <a:moveTo>
                  <a:pt x="0" y="0"/>
                </a:moveTo>
                <a:lnTo>
                  <a:pt x="8417667" y="0"/>
                </a:lnTo>
                <a:lnTo>
                  <a:pt x="8417667" y="6633167"/>
                </a:lnTo>
                <a:lnTo>
                  <a:pt x="0" y="6633167"/>
                </a:lnTo>
                <a:lnTo>
                  <a:pt x="0" y="0"/>
                </a:lnTo>
                <a:close/>
              </a:path>
            </a:pathLst>
          </a:custGeom>
          <a:blipFill>
            <a:blip r:embed="rId2"/>
            <a:stretch>
              <a:fillRect l="-4132" t="0" r="-13920" b="0"/>
            </a:stretch>
          </a:blipFill>
        </p:spPr>
      </p:sp>
      <p:sp>
        <p:nvSpPr>
          <p:cNvPr name="TextBox 9" id="9"/>
          <p:cNvSpPr txBox="true"/>
          <p:nvPr/>
        </p:nvSpPr>
        <p:spPr>
          <a:xfrm rot="0">
            <a:off x="1028700" y="3455830"/>
            <a:ext cx="7958623" cy="2970212"/>
          </a:xfrm>
          <a:prstGeom prst="rect">
            <a:avLst/>
          </a:prstGeom>
        </p:spPr>
        <p:txBody>
          <a:bodyPr anchor="t" rtlCol="false" tIns="0" lIns="0" bIns="0" rIns="0">
            <a:spAutoFit/>
          </a:bodyPr>
          <a:lstStyle/>
          <a:p>
            <a:pPr algn="l">
              <a:lnSpc>
                <a:spcPts val="2955"/>
              </a:lnSpc>
            </a:pPr>
            <a:r>
              <a:rPr lang="en-US" sz="2111" b="true">
                <a:solidFill>
                  <a:srgbClr val="000000"/>
                </a:solidFill>
                <a:latin typeface="Lato Bold"/>
                <a:ea typeface="Lato Bold"/>
                <a:cs typeface="Lato Bold"/>
                <a:sym typeface="Lato Bold"/>
              </a:rPr>
              <a:t>Dans un monde de plus en plus connecté, la gestion de l'énergie domestique devient essentielle pour garantir à la fois la sécurité, l'efficacité et la commodité. Les méthodes traditionnelles de gestion de l'alimentation ne répondent plus aux besoins croissants des utilisateurs. Afin de répondre à ces défis, le projet Contrôle de l'Alimentation des Équipements Domestiques à Distance s'inscrit dans une approche innovante en utilisant les technologies de l'Internet des objets (IoT).</a:t>
            </a:r>
          </a:p>
        </p:txBody>
      </p:sp>
      <p:sp>
        <p:nvSpPr>
          <p:cNvPr name="TextBox 10" id="10"/>
          <p:cNvSpPr txBox="true"/>
          <p:nvPr/>
        </p:nvSpPr>
        <p:spPr>
          <a:xfrm rot="0">
            <a:off x="1028700" y="1328099"/>
            <a:ext cx="7060045" cy="1295088"/>
          </a:xfrm>
          <a:prstGeom prst="rect">
            <a:avLst/>
          </a:prstGeom>
        </p:spPr>
        <p:txBody>
          <a:bodyPr anchor="t" rtlCol="false" tIns="0" lIns="0" bIns="0" rIns="0">
            <a:spAutoFit/>
          </a:bodyPr>
          <a:lstStyle/>
          <a:p>
            <a:pPr algn="l">
              <a:lnSpc>
                <a:spcPts val="10517"/>
              </a:lnSpc>
            </a:pPr>
            <a:r>
              <a:rPr lang="en-US" sz="7512" spc="-247" b="true">
                <a:solidFill>
                  <a:srgbClr val="000000"/>
                </a:solidFill>
                <a:latin typeface="Roboto Bold"/>
                <a:ea typeface="Roboto Bold"/>
                <a:cs typeface="Roboto Bold"/>
                <a:sym typeface="Roboto Bold"/>
              </a:rPr>
              <a:t>Introduction</a:t>
            </a:r>
          </a:p>
        </p:txBody>
      </p:sp>
      <p:sp>
        <p:nvSpPr>
          <p:cNvPr name="TextBox 11" id="11"/>
          <p:cNvSpPr txBox="true"/>
          <p:nvPr/>
        </p:nvSpPr>
        <p:spPr>
          <a:xfrm rot="0">
            <a:off x="1028700" y="2556512"/>
            <a:ext cx="7153843" cy="424813"/>
          </a:xfrm>
          <a:prstGeom prst="rect">
            <a:avLst/>
          </a:prstGeom>
        </p:spPr>
        <p:txBody>
          <a:bodyPr anchor="t" rtlCol="false" tIns="0" lIns="0" bIns="0" rIns="0">
            <a:spAutoFit/>
          </a:bodyPr>
          <a:lstStyle/>
          <a:p>
            <a:pPr algn="just">
              <a:lnSpc>
                <a:spcPts val="3360"/>
              </a:lnSpc>
            </a:pPr>
            <a:r>
              <a:rPr lang="en-US" sz="2400">
                <a:solidFill>
                  <a:srgbClr val="000000"/>
                </a:solidFill>
                <a:latin typeface="Poppins"/>
                <a:ea typeface="Poppins"/>
                <a:cs typeface="Poppins"/>
                <a:sym typeface="Poppins"/>
              </a:rPr>
              <a:t>CONTEXTE DU PROJET</a:t>
            </a:r>
          </a:p>
        </p:txBody>
      </p:sp>
      <p:sp>
        <p:nvSpPr>
          <p:cNvPr name="TextBox 12" id="12"/>
          <p:cNvSpPr txBox="true"/>
          <p:nvPr/>
        </p:nvSpPr>
        <p:spPr>
          <a:xfrm rot="0">
            <a:off x="1028700" y="6902292"/>
            <a:ext cx="7958623" cy="2110329"/>
          </a:xfrm>
          <a:prstGeom prst="rect">
            <a:avLst/>
          </a:prstGeom>
        </p:spPr>
        <p:txBody>
          <a:bodyPr anchor="t" rtlCol="false" tIns="0" lIns="0" bIns="0" rIns="0">
            <a:spAutoFit/>
          </a:bodyPr>
          <a:lstStyle/>
          <a:p>
            <a:pPr algn="l">
              <a:lnSpc>
                <a:spcPts val="2810"/>
              </a:lnSpc>
            </a:pPr>
            <a:r>
              <a:rPr lang="en-US" sz="2007">
                <a:solidFill>
                  <a:srgbClr val="000000"/>
                </a:solidFill>
                <a:latin typeface="Lato"/>
                <a:ea typeface="Lato"/>
                <a:cs typeface="Lato"/>
                <a:sym typeface="Lato"/>
              </a:rPr>
              <a:t>L'objectif de ce projet est de créer une solution intelligente, sécurisée et pratique qui permet de contrôler à distance la consommation d'énergie des équipements domestiques. Cette approche permet non seulement une meilleure gestion de l'énergie, mais également un confort accru et une optimisation des coûts pour les utilisateurs, tout en contribuant à la réduction de l'empreinte énergétique.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5400000">
            <a:off x="4513911" y="-3487089"/>
            <a:ext cx="9258300" cy="17261177"/>
            <a:chOff x="0" y="0"/>
            <a:chExt cx="2438400" cy="4546154"/>
          </a:xfrm>
        </p:grpSpPr>
        <p:sp>
          <p:nvSpPr>
            <p:cNvPr name="Freeform 3" id="3"/>
            <p:cNvSpPr/>
            <p:nvPr/>
          </p:nvSpPr>
          <p:spPr>
            <a:xfrm flipH="false" flipV="false" rot="0">
              <a:off x="0" y="0"/>
              <a:ext cx="2438400" cy="4546154"/>
            </a:xfrm>
            <a:custGeom>
              <a:avLst/>
              <a:gdLst/>
              <a:ahLst/>
              <a:cxnLst/>
              <a:rect r="r" b="b" t="t" l="l"/>
              <a:pathLst>
                <a:path h="4546154" w="2438400">
                  <a:moveTo>
                    <a:pt x="0" y="0"/>
                  </a:moveTo>
                  <a:lnTo>
                    <a:pt x="2438400" y="0"/>
                  </a:lnTo>
                  <a:lnTo>
                    <a:pt x="2438400" y="4546154"/>
                  </a:lnTo>
                  <a:lnTo>
                    <a:pt x="0" y="4546154"/>
                  </a:lnTo>
                  <a:close/>
                </a:path>
              </a:pathLst>
            </a:custGeom>
            <a:solidFill>
              <a:srgbClr val="F8F5F1"/>
            </a:solidFill>
          </p:spPr>
        </p:sp>
        <p:sp>
          <p:nvSpPr>
            <p:cNvPr name="TextBox 4" id="4"/>
            <p:cNvSpPr txBox="true"/>
            <p:nvPr/>
          </p:nvSpPr>
          <p:spPr>
            <a:xfrm>
              <a:off x="0" y="-38100"/>
              <a:ext cx="2438400" cy="458425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349683" y="9345065"/>
            <a:ext cx="423967" cy="427585"/>
            <a:chOff x="0" y="0"/>
            <a:chExt cx="205716" cy="207472"/>
          </a:xfrm>
        </p:grpSpPr>
        <p:sp>
          <p:nvSpPr>
            <p:cNvPr name="Freeform 6" id="6"/>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7" id="7"/>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4</a:t>
              </a:r>
            </a:p>
          </p:txBody>
        </p:sp>
      </p:grpSp>
      <p:sp>
        <p:nvSpPr>
          <p:cNvPr name="TextBox 8" id="8"/>
          <p:cNvSpPr txBox="true"/>
          <p:nvPr/>
        </p:nvSpPr>
        <p:spPr>
          <a:xfrm rot="0">
            <a:off x="1560235" y="7071221"/>
            <a:ext cx="3106559" cy="1054099"/>
          </a:xfrm>
          <a:prstGeom prst="rect">
            <a:avLst/>
          </a:prstGeom>
        </p:spPr>
        <p:txBody>
          <a:bodyPr anchor="t" rtlCol="false" tIns="0" lIns="0" bIns="0" rIns="0">
            <a:spAutoFit/>
          </a:bodyPr>
          <a:lstStyle/>
          <a:p>
            <a:pPr algn="ctr">
              <a:lnSpc>
                <a:spcPts val="2800"/>
              </a:lnSpc>
            </a:pPr>
            <a:r>
              <a:rPr lang="en-US" sz="2000">
                <a:solidFill>
                  <a:srgbClr val="000000"/>
                </a:solidFill>
                <a:latin typeface="Lato"/>
                <a:ea typeface="Lato"/>
                <a:cs typeface="Lato"/>
                <a:sym typeface="Lato"/>
              </a:rPr>
              <a:t>Pas de suivi en temps réel, entraînant du gaspillage d'énergie.</a:t>
            </a:r>
          </a:p>
        </p:txBody>
      </p:sp>
      <p:sp>
        <p:nvSpPr>
          <p:cNvPr name="TextBox 9" id="9"/>
          <p:cNvSpPr txBox="true"/>
          <p:nvPr/>
        </p:nvSpPr>
        <p:spPr>
          <a:xfrm rot="0">
            <a:off x="13590657" y="7247434"/>
            <a:ext cx="3106559" cy="701674"/>
          </a:xfrm>
          <a:prstGeom prst="rect">
            <a:avLst/>
          </a:prstGeom>
        </p:spPr>
        <p:txBody>
          <a:bodyPr anchor="t" rtlCol="false" tIns="0" lIns="0" bIns="0" rIns="0">
            <a:spAutoFit/>
          </a:bodyPr>
          <a:lstStyle/>
          <a:p>
            <a:pPr algn="ctr">
              <a:lnSpc>
                <a:spcPts val="2800"/>
              </a:lnSpc>
            </a:pPr>
            <a:r>
              <a:rPr lang="en-US" sz="2000">
                <a:solidFill>
                  <a:srgbClr val="000000"/>
                </a:solidFill>
                <a:latin typeface="Lato"/>
                <a:ea typeface="Lato"/>
                <a:cs typeface="Lato"/>
                <a:sym typeface="Lato"/>
              </a:rPr>
              <a:t>Risque d'accès non autorisé aux appareils.</a:t>
            </a:r>
          </a:p>
        </p:txBody>
      </p:sp>
      <p:sp>
        <p:nvSpPr>
          <p:cNvPr name="TextBox 10" id="10"/>
          <p:cNvSpPr txBox="true"/>
          <p:nvPr/>
        </p:nvSpPr>
        <p:spPr>
          <a:xfrm rot="0">
            <a:off x="5570376" y="7387591"/>
            <a:ext cx="3106559" cy="1054099"/>
          </a:xfrm>
          <a:prstGeom prst="rect">
            <a:avLst/>
          </a:prstGeom>
        </p:spPr>
        <p:txBody>
          <a:bodyPr anchor="t" rtlCol="false" tIns="0" lIns="0" bIns="0" rIns="0">
            <a:spAutoFit/>
          </a:bodyPr>
          <a:lstStyle/>
          <a:p>
            <a:pPr algn="ctr">
              <a:lnSpc>
                <a:spcPts val="2800"/>
              </a:lnSpc>
            </a:pPr>
            <a:r>
              <a:rPr lang="en-US" sz="2000">
                <a:solidFill>
                  <a:srgbClr val="000000"/>
                </a:solidFill>
                <a:latin typeface="Lato"/>
                <a:ea typeface="Lato"/>
                <a:cs typeface="Lato"/>
                <a:sym typeface="Lato"/>
              </a:rPr>
              <a:t>Impossible de contrôler automatiquement les appareils selon les besoins.</a:t>
            </a:r>
          </a:p>
        </p:txBody>
      </p:sp>
      <p:sp>
        <p:nvSpPr>
          <p:cNvPr name="TextBox 11" id="11"/>
          <p:cNvSpPr txBox="true"/>
          <p:nvPr/>
        </p:nvSpPr>
        <p:spPr>
          <a:xfrm rot="0">
            <a:off x="9599567" y="7398246"/>
            <a:ext cx="3106559" cy="1054099"/>
          </a:xfrm>
          <a:prstGeom prst="rect">
            <a:avLst/>
          </a:prstGeom>
        </p:spPr>
        <p:txBody>
          <a:bodyPr anchor="t" rtlCol="false" tIns="0" lIns="0" bIns="0" rIns="0">
            <a:spAutoFit/>
          </a:bodyPr>
          <a:lstStyle/>
          <a:p>
            <a:pPr algn="ctr">
              <a:lnSpc>
                <a:spcPts val="2800"/>
              </a:lnSpc>
            </a:pPr>
            <a:r>
              <a:rPr lang="en-US" sz="2000">
                <a:solidFill>
                  <a:srgbClr val="000000"/>
                </a:solidFill>
                <a:latin typeface="Lato"/>
                <a:ea typeface="Lato"/>
                <a:cs typeface="Lato"/>
                <a:sym typeface="Lato"/>
              </a:rPr>
              <a:t>Pas de moyen simple pour gérer les appareils à distance.</a:t>
            </a:r>
          </a:p>
        </p:txBody>
      </p:sp>
      <p:sp>
        <p:nvSpPr>
          <p:cNvPr name="TextBox 12" id="12"/>
          <p:cNvSpPr txBox="true"/>
          <p:nvPr/>
        </p:nvSpPr>
        <p:spPr>
          <a:xfrm rot="0">
            <a:off x="1987888" y="6539003"/>
            <a:ext cx="2348037" cy="349655"/>
          </a:xfrm>
          <a:prstGeom prst="rect">
            <a:avLst/>
          </a:prstGeom>
        </p:spPr>
        <p:txBody>
          <a:bodyPr anchor="t" rtlCol="false" tIns="0" lIns="0" bIns="0" rIns="0">
            <a:spAutoFit/>
          </a:bodyPr>
          <a:lstStyle/>
          <a:p>
            <a:pPr algn="ctr">
              <a:lnSpc>
                <a:spcPts val="2505"/>
              </a:lnSpc>
            </a:pPr>
            <a:r>
              <a:rPr lang="en-US" b="true" sz="2257">
                <a:solidFill>
                  <a:srgbClr val="000000"/>
                </a:solidFill>
                <a:latin typeface="Poppins Semi-Bold"/>
                <a:ea typeface="Poppins Semi-Bold"/>
                <a:cs typeface="Poppins Semi-Bold"/>
                <a:sym typeface="Poppins Semi-Bold"/>
              </a:rPr>
              <a:t>GASPI D'ÉNERGIE</a:t>
            </a:r>
          </a:p>
        </p:txBody>
      </p:sp>
      <p:sp>
        <p:nvSpPr>
          <p:cNvPr name="TextBox 13" id="13"/>
          <p:cNvSpPr txBox="true"/>
          <p:nvPr/>
        </p:nvSpPr>
        <p:spPr>
          <a:xfrm rot="0">
            <a:off x="5607673" y="6381841"/>
            <a:ext cx="3047085" cy="663980"/>
          </a:xfrm>
          <a:prstGeom prst="rect">
            <a:avLst/>
          </a:prstGeom>
        </p:spPr>
        <p:txBody>
          <a:bodyPr anchor="t" rtlCol="false" tIns="0" lIns="0" bIns="0" rIns="0">
            <a:spAutoFit/>
          </a:bodyPr>
          <a:lstStyle/>
          <a:p>
            <a:pPr algn="ctr">
              <a:lnSpc>
                <a:spcPts val="2505"/>
              </a:lnSpc>
            </a:pPr>
            <a:r>
              <a:rPr lang="en-US" b="true" sz="2257">
                <a:solidFill>
                  <a:srgbClr val="000000"/>
                </a:solidFill>
                <a:latin typeface="Poppins Semi-Bold"/>
                <a:ea typeface="Poppins Semi-Bold"/>
                <a:cs typeface="Poppins Semi-Bold"/>
                <a:sym typeface="Poppins Semi-Bold"/>
              </a:rPr>
              <a:t>PAS D'AUTOMATISATION</a:t>
            </a:r>
          </a:p>
        </p:txBody>
      </p:sp>
      <p:sp>
        <p:nvSpPr>
          <p:cNvPr name="TextBox 14" id="14"/>
          <p:cNvSpPr txBox="true"/>
          <p:nvPr/>
        </p:nvSpPr>
        <p:spPr>
          <a:xfrm rot="0">
            <a:off x="9576112" y="6400891"/>
            <a:ext cx="3362785" cy="663980"/>
          </a:xfrm>
          <a:prstGeom prst="rect">
            <a:avLst/>
          </a:prstGeom>
        </p:spPr>
        <p:txBody>
          <a:bodyPr anchor="t" rtlCol="false" tIns="0" lIns="0" bIns="0" rIns="0">
            <a:spAutoFit/>
          </a:bodyPr>
          <a:lstStyle/>
          <a:p>
            <a:pPr algn="ctr">
              <a:lnSpc>
                <a:spcPts val="2505"/>
              </a:lnSpc>
            </a:pPr>
            <a:r>
              <a:rPr lang="en-US" b="true" sz="2257">
                <a:solidFill>
                  <a:srgbClr val="000000"/>
                </a:solidFill>
                <a:latin typeface="Poppins Semi-Bold"/>
                <a:ea typeface="Poppins Semi-Bold"/>
                <a:cs typeface="Poppins Semi-Bold"/>
                <a:sym typeface="Poppins Semi-Bold"/>
              </a:rPr>
              <a:t>MANQUE DE CONTRÔLE À DISTANCE</a:t>
            </a:r>
          </a:p>
        </p:txBody>
      </p:sp>
      <p:sp>
        <p:nvSpPr>
          <p:cNvPr name="TextBox 15" id="15"/>
          <p:cNvSpPr txBox="true"/>
          <p:nvPr/>
        </p:nvSpPr>
        <p:spPr>
          <a:xfrm rot="0">
            <a:off x="13977922" y="6558053"/>
            <a:ext cx="2348037" cy="349655"/>
          </a:xfrm>
          <a:prstGeom prst="rect">
            <a:avLst/>
          </a:prstGeom>
        </p:spPr>
        <p:txBody>
          <a:bodyPr anchor="t" rtlCol="false" tIns="0" lIns="0" bIns="0" rIns="0">
            <a:spAutoFit/>
          </a:bodyPr>
          <a:lstStyle/>
          <a:p>
            <a:pPr algn="ctr">
              <a:lnSpc>
                <a:spcPts val="2505"/>
              </a:lnSpc>
            </a:pPr>
            <a:r>
              <a:rPr lang="en-US" b="true" sz="2257">
                <a:solidFill>
                  <a:srgbClr val="000000"/>
                </a:solidFill>
                <a:latin typeface="Poppins Semi-Bold"/>
                <a:ea typeface="Poppins Semi-Bold"/>
                <a:cs typeface="Poppins Semi-Bold"/>
                <a:sym typeface="Poppins Semi-Bold"/>
              </a:rPr>
              <a:t>SÉCURITÉ FAIBLE</a:t>
            </a:r>
          </a:p>
        </p:txBody>
      </p:sp>
      <p:sp>
        <p:nvSpPr>
          <p:cNvPr name="AutoShape 16" id="16"/>
          <p:cNvSpPr/>
          <p:nvPr/>
        </p:nvSpPr>
        <p:spPr>
          <a:xfrm>
            <a:off x="1909555" y="5662703"/>
            <a:ext cx="14468890" cy="0"/>
          </a:xfrm>
          <a:prstGeom prst="line">
            <a:avLst/>
          </a:prstGeom>
          <a:ln cap="flat" w="38100">
            <a:solidFill>
              <a:srgbClr val="000000"/>
            </a:solidFill>
            <a:prstDash val="solid"/>
            <a:headEnd type="none" len="sm" w="sm"/>
            <a:tailEnd type="none" len="sm" w="sm"/>
          </a:ln>
        </p:spPr>
      </p:sp>
      <p:grpSp>
        <p:nvGrpSpPr>
          <p:cNvPr name="Group 17" id="17"/>
          <p:cNvGrpSpPr/>
          <p:nvPr/>
        </p:nvGrpSpPr>
        <p:grpSpPr>
          <a:xfrm rot="0">
            <a:off x="2516348" y="4056508"/>
            <a:ext cx="1223009" cy="122300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240"/>
                </a:lnSpc>
              </a:pPr>
            </a:p>
          </p:txBody>
        </p:sp>
      </p:grpSp>
      <p:grpSp>
        <p:nvGrpSpPr>
          <p:cNvPr name="Group 20" id="20"/>
          <p:cNvGrpSpPr/>
          <p:nvPr/>
        </p:nvGrpSpPr>
        <p:grpSpPr>
          <a:xfrm rot="0">
            <a:off x="1645946" y="5488771"/>
            <a:ext cx="345718" cy="34571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 id="22"/>
            <p:cNvSpPr txBox="true"/>
            <p:nvPr/>
          </p:nvSpPr>
          <p:spPr>
            <a:xfrm>
              <a:off x="76200" y="28575"/>
              <a:ext cx="660400" cy="708025"/>
            </a:xfrm>
            <a:prstGeom prst="rect">
              <a:avLst/>
            </a:prstGeom>
          </p:spPr>
          <p:txBody>
            <a:bodyPr anchor="ctr" rtlCol="false" tIns="50800" lIns="50800" bIns="50800" rIns="50800"/>
            <a:lstStyle/>
            <a:p>
              <a:pPr algn="ctr">
                <a:lnSpc>
                  <a:spcPts val="2240"/>
                </a:lnSpc>
              </a:pPr>
            </a:p>
          </p:txBody>
        </p:sp>
      </p:grpSp>
      <p:grpSp>
        <p:nvGrpSpPr>
          <p:cNvPr name="Group 23" id="23"/>
          <p:cNvGrpSpPr/>
          <p:nvPr/>
        </p:nvGrpSpPr>
        <p:grpSpPr>
          <a:xfrm rot="0">
            <a:off x="16370549" y="5488771"/>
            <a:ext cx="345718" cy="34571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2240"/>
                </a:lnSpc>
              </a:pPr>
            </a:p>
          </p:txBody>
        </p:sp>
      </p:grpSp>
      <p:grpSp>
        <p:nvGrpSpPr>
          <p:cNvPr name="Group 26" id="26"/>
          <p:cNvGrpSpPr/>
          <p:nvPr/>
        </p:nvGrpSpPr>
        <p:grpSpPr>
          <a:xfrm rot="0">
            <a:off x="6531201" y="4037100"/>
            <a:ext cx="1223009" cy="122300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E2D6"/>
            </a:soli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2240"/>
                </a:lnSpc>
              </a:pPr>
            </a:p>
          </p:txBody>
        </p:sp>
      </p:grpSp>
      <p:grpSp>
        <p:nvGrpSpPr>
          <p:cNvPr name="Group 29" id="29"/>
          <p:cNvGrpSpPr/>
          <p:nvPr/>
        </p:nvGrpSpPr>
        <p:grpSpPr>
          <a:xfrm rot="0">
            <a:off x="10541341" y="4036742"/>
            <a:ext cx="1223009" cy="122300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2240"/>
                </a:lnSpc>
              </a:pPr>
            </a:p>
          </p:txBody>
        </p:sp>
      </p:grpSp>
      <p:grpSp>
        <p:nvGrpSpPr>
          <p:cNvPr name="Group 32" id="32"/>
          <p:cNvGrpSpPr/>
          <p:nvPr/>
        </p:nvGrpSpPr>
        <p:grpSpPr>
          <a:xfrm rot="0">
            <a:off x="14551482" y="4036385"/>
            <a:ext cx="1223009" cy="1223009"/>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E2D6"/>
            </a:solidFill>
          </p:spPr>
        </p:sp>
        <p:sp>
          <p:nvSpPr>
            <p:cNvPr name="TextBox 34" id="34"/>
            <p:cNvSpPr txBox="true"/>
            <p:nvPr/>
          </p:nvSpPr>
          <p:spPr>
            <a:xfrm>
              <a:off x="76200" y="28575"/>
              <a:ext cx="660400" cy="708025"/>
            </a:xfrm>
            <a:prstGeom prst="rect">
              <a:avLst/>
            </a:prstGeom>
          </p:spPr>
          <p:txBody>
            <a:bodyPr anchor="ctr" rtlCol="false" tIns="50800" lIns="50800" bIns="50800" rIns="50800"/>
            <a:lstStyle/>
            <a:p>
              <a:pPr algn="ctr">
                <a:lnSpc>
                  <a:spcPts val="2240"/>
                </a:lnSpc>
              </a:pPr>
            </a:p>
          </p:txBody>
        </p:sp>
      </p:grpSp>
      <p:sp>
        <p:nvSpPr>
          <p:cNvPr name="AutoShape 35" id="35"/>
          <p:cNvSpPr/>
          <p:nvPr/>
        </p:nvSpPr>
        <p:spPr>
          <a:xfrm flipH="true">
            <a:off x="3113514" y="5279458"/>
            <a:ext cx="5690" cy="402296"/>
          </a:xfrm>
          <a:prstGeom prst="line">
            <a:avLst/>
          </a:prstGeom>
          <a:ln cap="flat" w="38100">
            <a:solidFill>
              <a:srgbClr val="000000"/>
            </a:solidFill>
            <a:prstDash val="solid"/>
            <a:headEnd type="none" len="sm" w="sm"/>
            <a:tailEnd type="none" len="sm" w="sm"/>
          </a:ln>
        </p:spPr>
      </p:sp>
      <p:sp>
        <p:nvSpPr>
          <p:cNvPr name="AutoShape 36" id="36"/>
          <p:cNvSpPr/>
          <p:nvPr/>
        </p:nvSpPr>
        <p:spPr>
          <a:xfrm flipH="true">
            <a:off x="7123655" y="5260004"/>
            <a:ext cx="7561" cy="402342"/>
          </a:xfrm>
          <a:prstGeom prst="line">
            <a:avLst/>
          </a:prstGeom>
          <a:ln cap="flat" w="38100">
            <a:solidFill>
              <a:srgbClr val="000000"/>
            </a:solidFill>
            <a:prstDash val="solid"/>
            <a:headEnd type="none" len="sm" w="sm"/>
            <a:tailEnd type="none" len="sm" w="sm"/>
          </a:ln>
        </p:spPr>
      </p:sp>
      <p:sp>
        <p:nvSpPr>
          <p:cNvPr name="AutoShape 37" id="37"/>
          <p:cNvSpPr/>
          <p:nvPr/>
        </p:nvSpPr>
        <p:spPr>
          <a:xfrm flipH="true">
            <a:off x="11133796" y="5259646"/>
            <a:ext cx="7561" cy="402342"/>
          </a:xfrm>
          <a:prstGeom prst="line">
            <a:avLst/>
          </a:prstGeom>
          <a:ln cap="flat" w="38100">
            <a:solidFill>
              <a:srgbClr val="000000"/>
            </a:solidFill>
            <a:prstDash val="solid"/>
            <a:headEnd type="none" len="sm" w="sm"/>
            <a:tailEnd type="none" len="sm" w="sm"/>
          </a:ln>
        </p:spPr>
      </p:sp>
      <p:sp>
        <p:nvSpPr>
          <p:cNvPr name="AutoShape 38" id="38"/>
          <p:cNvSpPr/>
          <p:nvPr/>
        </p:nvSpPr>
        <p:spPr>
          <a:xfrm flipH="true">
            <a:off x="15143937" y="5259288"/>
            <a:ext cx="7561" cy="402342"/>
          </a:xfrm>
          <a:prstGeom prst="line">
            <a:avLst/>
          </a:prstGeom>
          <a:ln cap="flat" w="38100">
            <a:solidFill>
              <a:srgbClr val="000000"/>
            </a:solidFill>
            <a:prstDash val="solid"/>
            <a:headEnd type="none" len="sm" w="sm"/>
            <a:tailEnd type="none" len="sm" w="sm"/>
          </a:ln>
        </p:spPr>
      </p:sp>
      <p:sp>
        <p:nvSpPr>
          <p:cNvPr name="TextBox 39" id="39"/>
          <p:cNvSpPr txBox="true"/>
          <p:nvPr/>
        </p:nvSpPr>
        <p:spPr>
          <a:xfrm rot="0">
            <a:off x="2613036" y="4464801"/>
            <a:ext cx="1029632" cy="434998"/>
          </a:xfrm>
          <a:prstGeom prst="rect">
            <a:avLst/>
          </a:prstGeom>
        </p:spPr>
        <p:txBody>
          <a:bodyPr anchor="t" rtlCol="false" tIns="0" lIns="0" bIns="0" rIns="0">
            <a:spAutoFit/>
          </a:bodyPr>
          <a:lstStyle/>
          <a:p>
            <a:pPr algn="ctr">
              <a:lnSpc>
                <a:spcPts val="3393"/>
              </a:lnSpc>
            </a:pPr>
            <a:r>
              <a:rPr lang="en-US" sz="3057" i="true">
                <a:solidFill>
                  <a:srgbClr val="FFFFFF"/>
                </a:solidFill>
                <a:latin typeface="Lato Italics"/>
                <a:ea typeface="Lato Italics"/>
                <a:cs typeface="Lato Italics"/>
                <a:sym typeface="Lato Italics"/>
              </a:rPr>
              <a:t>01</a:t>
            </a:r>
          </a:p>
        </p:txBody>
      </p:sp>
      <p:sp>
        <p:nvSpPr>
          <p:cNvPr name="TextBox 40" id="40"/>
          <p:cNvSpPr txBox="true"/>
          <p:nvPr/>
        </p:nvSpPr>
        <p:spPr>
          <a:xfrm rot="0">
            <a:off x="6627889" y="4464801"/>
            <a:ext cx="1029632" cy="434998"/>
          </a:xfrm>
          <a:prstGeom prst="rect">
            <a:avLst/>
          </a:prstGeom>
        </p:spPr>
        <p:txBody>
          <a:bodyPr anchor="t" rtlCol="false" tIns="0" lIns="0" bIns="0" rIns="0">
            <a:spAutoFit/>
          </a:bodyPr>
          <a:lstStyle/>
          <a:p>
            <a:pPr algn="ctr">
              <a:lnSpc>
                <a:spcPts val="3393"/>
              </a:lnSpc>
            </a:pPr>
            <a:r>
              <a:rPr lang="en-US" sz="3057" i="true">
                <a:solidFill>
                  <a:srgbClr val="000000"/>
                </a:solidFill>
                <a:latin typeface="Lato Italics"/>
                <a:ea typeface="Lato Italics"/>
                <a:cs typeface="Lato Italics"/>
                <a:sym typeface="Lato Italics"/>
              </a:rPr>
              <a:t>02</a:t>
            </a:r>
          </a:p>
        </p:txBody>
      </p:sp>
      <p:sp>
        <p:nvSpPr>
          <p:cNvPr name="TextBox 41" id="41"/>
          <p:cNvSpPr txBox="true"/>
          <p:nvPr/>
        </p:nvSpPr>
        <p:spPr>
          <a:xfrm rot="0">
            <a:off x="10626541" y="4464801"/>
            <a:ext cx="1029632" cy="434998"/>
          </a:xfrm>
          <a:prstGeom prst="rect">
            <a:avLst/>
          </a:prstGeom>
        </p:spPr>
        <p:txBody>
          <a:bodyPr anchor="t" rtlCol="false" tIns="0" lIns="0" bIns="0" rIns="0">
            <a:spAutoFit/>
          </a:bodyPr>
          <a:lstStyle/>
          <a:p>
            <a:pPr algn="ctr">
              <a:lnSpc>
                <a:spcPts val="3393"/>
              </a:lnSpc>
            </a:pPr>
            <a:r>
              <a:rPr lang="en-US" sz="3057" i="true">
                <a:solidFill>
                  <a:srgbClr val="FFFFFF"/>
                </a:solidFill>
                <a:latin typeface="Lato Italics"/>
                <a:ea typeface="Lato Italics"/>
                <a:cs typeface="Lato Italics"/>
                <a:sym typeface="Lato Italics"/>
              </a:rPr>
              <a:t>03</a:t>
            </a:r>
          </a:p>
        </p:txBody>
      </p:sp>
      <p:sp>
        <p:nvSpPr>
          <p:cNvPr name="TextBox 42" id="42"/>
          <p:cNvSpPr txBox="true"/>
          <p:nvPr/>
        </p:nvSpPr>
        <p:spPr>
          <a:xfrm rot="0">
            <a:off x="14640901" y="4444677"/>
            <a:ext cx="1029632" cy="434998"/>
          </a:xfrm>
          <a:prstGeom prst="rect">
            <a:avLst/>
          </a:prstGeom>
        </p:spPr>
        <p:txBody>
          <a:bodyPr anchor="t" rtlCol="false" tIns="0" lIns="0" bIns="0" rIns="0">
            <a:spAutoFit/>
          </a:bodyPr>
          <a:lstStyle/>
          <a:p>
            <a:pPr algn="ctr">
              <a:lnSpc>
                <a:spcPts val="3393"/>
              </a:lnSpc>
            </a:pPr>
            <a:r>
              <a:rPr lang="en-US" sz="3057" i="true">
                <a:solidFill>
                  <a:srgbClr val="000000"/>
                </a:solidFill>
                <a:latin typeface="Lato Italics"/>
                <a:ea typeface="Lato Italics"/>
                <a:cs typeface="Lato Italics"/>
                <a:sym typeface="Lato Italics"/>
              </a:rPr>
              <a:t>04</a:t>
            </a:r>
          </a:p>
        </p:txBody>
      </p:sp>
      <p:sp>
        <p:nvSpPr>
          <p:cNvPr name="TextBox 43" id="43"/>
          <p:cNvSpPr txBox="true"/>
          <p:nvPr/>
        </p:nvSpPr>
        <p:spPr>
          <a:xfrm rot="0">
            <a:off x="5347227" y="885825"/>
            <a:ext cx="7591670" cy="2589575"/>
          </a:xfrm>
          <a:prstGeom prst="rect">
            <a:avLst/>
          </a:prstGeom>
        </p:spPr>
        <p:txBody>
          <a:bodyPr anchor="t" rtlCol="false" tIns="0" lIns="0" bIns="0" rIns="0">
            <a:spAutoFit/>
          </a:bodyPr>
          <a:lstStyle/>
          <a:p>
            <a:pPr algn="just">
              <a:lnSpc>
                <a:spcPts val="10391"/>
              </a:lnSpc>
            </a:pPr>
            <a:r>
              <a:rPr lang="en-US" b="true" sz="7422" spc="-244">
                <a:solidFill>
                  <a:srgbClr val="000000"/>
                </a:solidFill>
                <a:latin typeface="Roboto Bold"/>
                <a:ea typeface="Roboto Bold"/>
                <a:cs typeface="Roboto Bold"/>
                <a:sym typeface="Roboto Bold"/>
              </a:rPr>
              <a:t>PROBLÉMATIQUE</a:t>
            </a:r>
          </a:p>
          <a:p>
            <a:pPr algn="just">
              <a:lnSpc>
                <a:spcPts val="1039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1745" y="514350"/>
            <a:ext cx="4765685" cy="4722147"/>
            <a:chOff x="0" y="0"/>
            <a:chExt cx="1433756" cy="1420657"/>
          </a:xfrm>
        </p:grpSpPr>
        <p:sp>
          <p:nvSpPr>
            <p:cNvPr name="Freeform 3" id="3"/>
            <p:cNvSpPr/>
            <p:nvPr/>
          </p:nvSpPr>
          <p:spPr>
            <a:xfrm flipH="false" flipV="false" rot="0">
              <a:off x="0" y="0"/>
              <a:ext cx="1433756" cy="1420657"/>
            </a:xfrm>
            <a:custGeom>
              <a:avLst/>
              <a:gdLst/>
              <a:ahLst/>
              <a:cxnLst/>
              <a:rect r="r" b="b" t="t" l="l"/>
              <a:pathLst>
                <a:path h="1420657" w="1433756">
                  <a:moveTo>
                    <a:pt x="0" y="0"/>
                  </a:moveTo>
                  <a:lnTo>
                    <a:pt x="1433756" y="0"/>
                  </a:lnTo>
                  <a:lnTo>
                    <a:pt x="1433756" y="1420657"/>
                  </a:lnTo>
                  <a:lnTo>
                    <a:pt x="0" y="1420657"/>
                  </a:lnTo>
                  <a:close/>
                </a:path>
              </a:pathLst>
            </a:custGeom>
            <a:solidFill>
              <a:srgbClr val="202020"/>
            </a:solidFill>
          </p:spPr>
        </p:sp>
        <p:sp>
          <p:nvSpPr>
            <p:cNvPr name="TextBox 4" id="4"/>
            <p:cNvSpPr txBox="true"/>
            <p:nvPr/>
          </p:nvSpPr>
          <p:spPr>
            <a:xfrm>
              <a:off x="0" y="-38100"/>
              <a:ext cx="1433756" cy="145875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5090724"/>
            <a:ext cx="7539292" cy="1115694"/>
            <a:chOff x="0" y="0"/>
            <a:chExt cx="10052389" cy="1487592"/>
          </a:xfrm>
        </p:grpSpPr>
        <p:sp>
          <p:nvSpPr>
            <p:cNvPr name="TextBox 6" id="6"/>
            <p:cNvSpPr txBox="true"/>
            <p:nvPr/>
          </p:nvSpPr>
          <p:spPr>
            <a:xfrm rot="0">
              <a:off x="768011" y="-47625"/>
              <a:ext cx="9284378" cy="1535217"/>
            </a:xfrm>
            <a:prstGeom prst="rect">
              <a:avLst/>
            </a:prstGeom>
          </p:spPr>
          <p:txBody>
            <a:bodyPr anchor="t" rtlCol="false" tIns="0" lIns="0" bIns="0" rIns="0">
              <a:spAutoFit/>
            </a:bodyPr>
            <a:lstStyle/>
            <a:p>
              <a:pPr algn="l">
                <a:lnSpc>
                  <a:spcPts val="3080"/>
                </a:lnSpc>
              </a:pPr>
              <a:r>
                <a:rPr lang="en-US" sz="2200" b="true">
                  <a:solidFill>
                    <a:srgbClr val="000000"/>
                  </a:solidFill>
                  <a:latin typeface="Lato Bold"/>
                  <a:ea typeface="Lato Bold"/>
                  <a:cs typeface="Lato Bold"/>
                  <a:sym typeface="Lato Bold"/>
                </a:rPr>
                <a:t>Contrôle à distance : Permet de gérer les équipements domestiques via une application mobile ou un système de commande à distance.</a:t>
              </a:r>
            </a:p>
          </p:txBody>
        </p:sp>
        <p:sp>
          <p:nvSpPr>
            <p:cNvPr name="Freeform 7" id="7"/>
            <p:cNvSpPr/>
            <p:nvPr/>
          </p:nvSpPr>
          <p:spPr>
            <a:xfrm flipH="false" flipV="false" rot="0">
              <a:off x="0" y="425449"/>
              <a:ext cx="523424" cy="491067"/>
            </a:xfrm>
            <a:custGeom>
              <a:avLst/>
              <a:gdLst/>
              <a:ahLst/>
              <a:cxnLst/>
              <a:rect r="r" b="b" t="t" l="l"/>
              <a:pathLst>
                <a:path h="491067" w="523424">
                  <a:moveTo>
                    <a:pt x="0" y="0"/>
                  </a:moveTo>
                  <a:lnTo>
                    <a:pt x="523424" y="0"/>
                  </a:lnTo>
                  <a:lnTo>
                    <a:pt x="523424" y="491067"/>
                  </a:lnTo>
                  <a:lnTo>
                    <a:pt x="0" y="491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028700" y="6671275"/>
            <a:ext cx="7539292" cy="1115694"/>
            <a:chOff x="0" y="0"/>
            <a:chExt cx="10052389" cy="1487592"/>
          </a:xfrm>
        </p:grpSpPr>
        <p:sp>
          <p:nvSpPr>
            <p:cNvPr name="TextBox 9" id="9"/>
            <p:cNvSpPr txBox="true"/>
            <p:nvPr/>
          </p:nvSpPr>
          <p:spPr>
            <a:xfrm rot="0">
              <a:off x="768011" y="-47625"/>
              <a:ext cx="9284378" cy="1535217"/>
            </a:xfrm>
            <a:prstGeom prst="rect">
              <a:avLst/>
            </a:prstGeom>
          </p:spPr>
          <p:txBody>
            <a:bodyPr anchor="t" rtlCol="false" tIns="0" lIns="0" bIns="0" rIns="0">
              <a:spAutoFit/>
            </a:bodyPr>
            <a:lstStyle/>
            <a:p>
              <a:pPr algn="l">
                <a:lnSpc>
                  <a:spcPts val="3080"/>
                </a:lnSpc>
              </a:pPr>
              <a:r>
                <a:rPr lang="en-US" sz="2200" b="true">
                  <a:solidFill>
                    <a:srgbClr val="000000"/>
                  </a:solidFill>
                  <a:latin typeface="Lato Bold"/>
                  <a:ea typeface="Lato Bold"/>
                  <a:cs typeface="Lato Bold"/>
                  <a:sym typeface="Lato Bold"/>
                </a:rPr>
                <a:t>Suivi énergétique en temps réel : Fournit des informations actualisées sur la consommation d'énergie pour éviter le gaspillage.</a:t>
              </a:r>
            </a:p>
          </p:txBody>
        </p:sp>
        <p:sp>
          <p:nvSpPr>
            <p:cNvPr name="Freeform 10" id="10"/>
            <p:cNvSpPr/>
            <p:nvPr/>
          </p:nvSpPr>
          <p:spPr>
            <a:xfrm flipH="false" flipV="false" rot="0">
              <a:off x="0" y="425449"/>
              <a:ext cx="523424" cy="491067"/>
            </a:xfrm>
            <a:custGeom>
              <a:avLst/>
              <a:gdLst/>
              <a:ahLst/>
              <a:cxnLst/>
              <a:rect r="r" b="b" t="t" l="l"/>
              <a:pathLst>
                <a:path h="491067" w="523424">
                  <a:moveTo>
                    <a:pt x="0" y="0"/>
                  </a:moveTo>
                  <a:lnTo>
                    <a:pt x="523424" y="0"/>
                  </a:lnTo>
                  <a:lnTo>
                    <a:pt x="523424" y="491067"/>
                  </a:lnTo>
                  <a:lnTo>
                    <a:pt x="0" y="491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028700" y="8251826"/>
            <a:ext cx="7539292" cy="725169"/>
            <a:chOff x="0" y="0"/>
            <a:chExt cx="10052389" cy="966892"/>
          </a:xfrm>
        </p:grpSpPr>
        <p:sp>
          <p:nvSpPr>
            <p:cNvPr name="TextBox 12" id="12"/>
            <p:cNvSpPr txBox="true"/>
            <p:nvPr/>
          </p:nvSpPr>
          <p:spPr>
            <a:xfrm rot="0">
              <a:off x="768011" y="-47625"/>
              <a:ext cx="9284378" cy="1014517"/>
            </a:xfrm>
            <a:prstGeom prst="rect">
              <a:avLst/>
            </a:prstGeom>
          </p:spPr>
          <p:txBody>
            <a:bodyPr anchor="t" rtlCol="false" tIns="0" lIns="0" bIns="0" rIns="0">
              <a:spAutoFit/>
            </a:bodyPr>
            <a:lstStyle/>
            <a:p>
              <a:pPr algn="l">
                <a:lnSpc>
                  <a:spcPts val="3080"/>
                </a:lnSpc>
              </a:pPr>
              <a:r>
                <a:rPr lang="en-US" sz="2200" b="true">
                  <a:solidFill>
                    <a:srgbClr val="000000"/>
                  </a:solidFill>
                  <a:latin typeface="Lato Bold"/>
                  <a:ea typeface="Lato Bold"/>
                  <a:cs typeface="Lato Bold"/>
                  <a:sym typeface="Lato Bold"/>
                </a:rPr>
                <a:t>Alertes de sécurité : Envoie des notifications en cas de comportements inhabituels ou d’accès non autorisés.</a:t>
              </a:r>
            </a:p>
          </p:txBody>
        </p:sp>
        <p:sp>
          <p:nvSpPr>
            <p:cNvPr name="Freeform 13" id="13"/>
            <p:cNvSpPr/>
            <p:nvPr/>
          </p:nvSpPr>
          <p:spPr>
            <a:xfrm flipH="false" flipV="false" rot="0">
              <a:off x="0" y="425449"/>
              <a:ext cx="523424" cy="491067"/>
            </a:xfrm>
            <a:custGeom>
              <a:avLst/>
              <a:gdLst/>
              <a:ahLst/>
              <a:cxnLst/>
              <a:rect r="r" b="b" t="t" l="l"/>
              <a:pathLst>
                <a:path h="491067" w="523424">
                  <a:moveTo>
                    <a:pt x="0" y="0"/>
                  </a:moveTo>
                  <a:lnTo>
                    <a:pt x="523424" y="0"/>
                  </a:lnTo>
                  <a:lnTo>
                    <a:pt x="523424" y="491067"/>
                  </a:lnTo>
                  <a:lnTo>
                    <a:pt x="0" y="491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4" id="14"/>
          <p:cNvGrpSpPr/>
          <p:nvPr/>
        </p:nvGrpSpPr>
        <p:grpSpPr>
          <a:xfrm rot="0">
            <a:off x="17349683" y="9345065"/>
            <a:ext cx="423967" cy="427585"/>
            <a:chOff x="0" y="0"/>
            <a:chExt cx="205716" cy="207472"/>
          </a:xfrm>
        </p:grpSpPr>
        <p:sp>
          <p:nvSpPr>
            <p:cNvPr name="Freeform 15" id="15"/>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16" id="16"/>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5</a:t>
              </a:r>
            </a:p>
          </p:txBody>
        </p:sp>
      </p:grpSp>
      <p:sp>
        <p:nvSpPr>
          <p:cNvPr name="Freeform 17" id="17"/>
          <p:cNvSpPr/>
          <p:nvPr/>
        </p:nvSpPr>
        <p:spPr>
          <a:xfrm flipH="false" flipV="false" rot="0">
            <a:off x="10670034" y="1279877"/>
            <a:ext cx="6251017" cy="7978423"/>
          </a:xfrm>
          <a:custGeom>
            <a:avLst/>
            <a:gdLst/>
            <a:ahLst/>
            <a:cxnLst/>
            <a:rect r="r" b="b" t="t" l="l"/>
            <a:pathLst>
              <a:path h="7978423" w="6251017">
                <a:moveTo>
                  <a:pt x="0" y="0"/>
                </a:moveTo>
                <a:lnTo>
                  <a:pt x="6251017" y="0"/>
                </a:lnTo>
                <a:lnTo>
                  <a:pt x="6251017" y="7978423"/>
                </a:lnTo>
                <a:lnTo>
                  <a:pt x="0" y="7978423"/>
                </a:lnTo>
                <a:lnTo>
                  <a:pt x="0" y="0"/>
                </a:lnTo>
                <a:close/>
              </a:path>
            </a:pathLst>
          </a:custGeom>
          <a:blipFill>
            <a:blip r:embed="rId4"/>
            <a:stretch>
              <a:fillRect l="0" t="0" r="-126904" b="0"/>
            </a:stretch>
          </a:blipFill>
        </p:spPr>
      </p:sp>
      <p:sp>
        <p:nvSpPr>
          <p:cNvPr name="TextBox 18" id="18"/>
          <p:cNvSpPr txBox="true"/>
          <p:nvPr/>
        </p:nvSpPr>
        <p:spPr>
          <a:xfrm rot="0">
            <a:off x="1028700" y="866775"/>
            <a:ext cx="7182043" cy="2713500"/>
          </a:xfrm>
          <a:prstGeom prst="rect">
            <a:avLst/>
          </a:prstGeom>
        </p:spPr>
        <p:txBody>
          <a:bodyPr anchor="t" rtlCol="false" tIns="0" lIns="0" bIns="0" rIns="0">
            <a:spAutoFit/>
          </a:bodyPr>
          <a:lstStyle/>
          <a:p>
            <a:pPr algn="l">
              <a:lnSpc>
                <a:spcPts val="10837"/>
              </a:lnSpc>
            </a:pPr>
            <a:r>
              <a:rPr lang="en-US" sz="7741" spc="-255" b="true">
                <a:solidFill>
                  <a:srgbClr val="000000"/>
                </a:solidFill>
                <a:latin typeface="Roboto Bold"/>
                <a:ea typeface="Roboto Bold"/>
                <a:cs typeface="Roboto Bold"/>
                <a:sym typeface="Roboto Bold"/>
              </a:rPr>
              <a:t>SOLUTION</a:t>
            </a:r>
          </a:p>
          <a:p>
            <a:pPr algn="l">
              <a:lnSpc>
                <a:spcPts val="10837"/>
              </a:lnSpc>
            </a:pPr>
          </a:p>
        </p:txBody>
      </p:sp>
      <p:sp>
        <p:nvSpPr>
          <p:cNvPr name="TextBox 19" id="19"/>
          <p:cNvSpPr txBox="true"/>
          <p:nvPr/>
        </p:nvSpPr>
        <p:spPr>
          <a:xfrm rot="0">
            <a:off x="1186550" y="2818274"/>
            <a:ext cx="7223593" cy="1598929"/>
          </a:xfrm>
          <a:prstGeom prst="rect">
            <a:avLst/>
          </a:prstGeom>
        </p:spPr>
        <p:txBody>
          <a:bodyPr anchor="t" rtlCol="false" tIns="0" lIns="0" bIns="0" rIns="0">
            <a:spAutoFit/>
          </a:bodyPr>
          <a:lstStyle/>
          <a:p>
            <a:pPr algn="l">
              <a:lnSpc>
                <a:spcPts val="3220"/>
              </a:lnSpc>
            </a:pPr>
            <a:r>
              <a:rPr lang="en-US" sz="2300">
                <a:solidFill>
                  <a:srgbClr val="000000"/>
                </a:solidFill>
                <a:latin typeface="Lato"/>
                <a:ea typeface="Lato"/>
                <a:cs typeface="Lato"/>
                <a:sym typeface="Lato"/>
              </a:rPr>
              <a:t>Le projet propose des solutions innovantes pour améliorer la gestion de l'alimentation des équipements domestiques à distance et garantir un meilleur contrôle et une plus grande sécurité.</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2252748"/>
            <a:ext cx="5538778" cy="7519902"/>
            <a:chOff x="0" y="0"/>
            <a:chExt cx="858102" cy="1165030"/>
          </a:xfrm>
        </p:grpSpPr>
        <p:sp>
          <p:nvSpPr>
            <p:cNvPr name="Freeform 3" id="3"/>
            <p:cNvSpPr/>
            <p:nvPr/>
          </p:nvSpPr>
          <p:spPr>
            <a:xfrm flipH="false" flipV="false" rot="0">
              <a:off x="0" y="0"/>
              <a:ext cx="858102" cy="1165030"/>
            </a:xfrm>
            <a:custGeom>
              <a:avLst/>
              <a:gdLst/>
              <a:ahLst/>
              <a:cxnLst/>
              <a:rect r="r" b="b" t="t" l="l"/>
              <a:pathLst>
                <a:path h="1165030" w="858102">
                  <a:moveTo>
                    <a:pt x="0" y="0"/>
                  </a:moveTo>
                  <a:lnTo>
                    <a:pt x="858102" y="0"/>
                  </a:lnTo>
                  <a:lnTo>
                    <a:pt x="858102" y="1165030"/>
                  </a:lnTo>
                  <a:lnTo>
                    <a:pt x="0" y="1165030"/>
                  </a:lnTo>
                  <a:close/>
                </a:path>
              </a:pathLst>
            </a:custGeom>
            <a:blipFill>
              <a:blip r:embed="rId2"/>
              <a:stretch>
                <a:fillRect l="-51889" t="0" r="-51889" b="0"/>
              </a:stretch>
            </a:blipFill>
          </p:spPr>
        </p:sp>
      </p:grpSp>
      <p:grpSp>
        <p:nvGrpSpPr>
          <p:cNvPr name="Group 4" id="4"/>
          <p:cNvGrpSpPr/>
          <p:nvPr/>
        </p:nvGrpSpPr>
        <p:grpSpPr>
          <a:xfrm rot="0">
            <a:off x="8208422" y="514350"/>
            <a:ext cx="2505877" cy="7640329"/>
            <a:chOff x="0" y="0"/>
            <a:chExt cx="388226" cy="1183687"/>
          </a:xfrm>
        </p:grpSpPr>
        <p:sp>
          <p:nvSpPr>
            <p:cNvPr name="Freeform 5" id="5"/>
            <p:cNvSpPr/>
            <p:nvPr/>
          </p:nvSpPr>
          <p:spPr>
            <a:xfrm flipH="false" flipV="false" rot="0">
              <a:off x="0" y="0"/>
              <a:ext cx="388226" cy="1183687"/>
            </a:xfrm>
            <a:custGeom>
              <a:avLst/>
              <a:gdLst/>
              <a:ahLst/>
              <a:cxnLst/>
              <a:rect r="r" b="b" t="t" l="l"/>
              <a:pathLst>
                <a:path h="1183687" w="388226">
                  <a:moveTo>
                    <a:pt x="0" y="0"/>
                  </a:moveTo>
                  <a:lnTo>
                    <a:pt x="388226" y="0"/>
                  </a:lnTo>
                  <a:lnTo>
                    <a:pt x="388226" y="1183687"/>
                  </a:lnTo>
                  <a:lnTo>
                    <a:pt x="0" y="1183687"/>
                  </a:lnTo>
                  <a:close/>
                </a:path>
              </a:pathLst>
            </a:custGeom>
            <a:blipFill>
              <a:blip r:embed="rId3"/>
              <a:stretch>
                <a:fillRect l="-125380" t="0" r="-232250" b="0"/>
              </a:stretch>
            </a:blipFill>
          </p:spPr>
        </p:sp>
      </p:grpSp>
      <p:grpSp>
        <p:nvGrpSpPr>
          <p:cNvPr name="Group 6" id="6"/>
          <p:cNvGrpSpPr/>
          <p:nvPr/>
        </p:nvGrpSpPr>
        <p:grpSpPr>
          <a:xfrm rot="0">
            <a:off x="1028700" y="1028700"/>
            <a:ext cx="7179722" cy="7125979"/>
            <a:chOff x="0" y="0"/>
            <a:chExt cx="2456790" cy="2438400"/>
          </a:xfrm>
        </p:grpSpPr>
        <p:sp>
          <p:nvSpPr>
            <p:cNvPr name="Freeform 7" id="7"/>
            <p:cNvSpPr/>
            <p:nvPr/>
          </p:nvSpPr>
          <p:spPr>
            <a:xfrm flipH="false" flipV="false" rot="0">
              <a:off x="0" y="0"/>
              <a:ext cx="2456790" cy="2438400"/>
            </a:xfrm>
            <a:custGeom>
              <a:avLst/>
              <a:gdLst/>
              <a:ahLst/>
              <a:cxnLst/>
              <a:rect r="r" b="b" t="t" l="l"/>
              <a:pathLst>
                <a:path h="2438400" w="2456790">
                  <a:moveTo>
                    <a:pt x="0" y="0"/>
                  </a:moveTo>
                  <a:lnTo>
                    <a:pt x="2456790" y="0"/>
                  </a:lnTo>
                  <a:lnTo>
                    <a:pt x="2456790" y="2438400"/>
                  </a:lnTo>
                  <a:lnTo>
                    <a:pt x="0" y="2438400"/>
                  </a:lnTo>
                  <a:close/>
                </a:path>
              </a:pathLst>
            </a:custGeom>
            <a:solidFill>
              <a:srgbClr val="040606"/>
            </a:solidFill>
          </p:spPr>
        </p:sp>
        <p:sp>
          <p:nvSpPr>
            <p:cNvPr name="TextBox 8" id="8"/>
            <p:cNvSpPr txBox="true"/>
            <p:nvPr/>
          </p:nvSpPr>
          <p:spPr>
            <a:xfrm>
              <a:off x="0" y="-38100"/>
              <a:ext cx="2456790" cy="2476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719636" y="9772650"/>
            <a:ext cx="423967" cy="427585"/>
            <a:chOff x="0" y="0"/>
            <a:chExt cx="205716" cy="207472"/>
          </a:xfrm>
        </p:grpSpPr>
        <p:sp>
          <p:nvSpPr>
            <p:cNvPr name="Freeform 10" id="10"/>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11" id="11"/>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6</a:t>
              </a:r>
            </a:p>
          </p:txBody>
        </p:sp>
      </p:grpSp>
      <p:sp>
        <p:nvSpPr>
          <p:cNvPr name="TextBox 12" id="12"/>
          <p:cNvSpPr txBox="true"/>
          <p:nvPr/>
        </p:nvSpPr>
        <p:spPr>
          <a:xfrm rot="0">
            <a:off x="11056271" y="1270001"/>
            <a:ext cx="6758523" cy="3896994"/>
          </a:xfrm>
          <a:prstGeom prst="rect">
            <a:avLst/>
          </a:prstGeom>
        </p:spPr>
        <p:txBody>
          <a:bodyPr anchor="t" rtlCol="false" tIns="0" lIns="0" bIns="0" rIns="0">
            <a:spAutoFit/>
          </a:bodyPr>
          <a:lstStyle/>
          <a:p>
            <a:pPr algn="l" marL="474986" indent="-237493" lvl="1">
              <a:lnSpc>
                <a:spcPts val="3080"/>
              </a:lnSpc>
              <a:buFont typeface="Arial"/>
              <a:buChar char="•"/>
            </a:pPr>
            <a:r>
              <a:rPr lang="en-US" b="true" sz="2200">
                <a:solidFill>
                  <a:srgbClr val="000000"/>
                </a:solidFill>
                <a:latin typeface="Lato Bold"/>
                <a:ea typeface="Lato Bold"/>
                <a:cs typeface="Lato Bold"/>
                <a:sym typeface="Lato Bold"/>
              </a:rPr>
              <a:t>Accès sécurisé : Utilisation d'une application mobile pour garantir un accès sécurisé aux équipements.</a:t>
            </a:r>
          </a:p>
          <a:p>
            <a:pPr algn="l" marL="474986" indent="-237493" lvl="1">
              <a:lnSpc>
                <a:spcPts val="3080"/>
              </a:lnSpc>
              <a:buFont typeface="Arial"/>
              <a:buChar char="•"/>
            </a:pPr>
            <a:r>
              <a:rPr lang="en-US" b="true" sz="2200">
                <a:solidFill>
                  <a:srgbClr val="000000"/>
                </a:solidFill>
                <a:latin typeface="Lato Bold"/>
                <a:ea typeface="Lato Bold"/>
                <a:cs typeface="Lato Bold"/>
                <a:sym typeface="Lato Bold"/>
              </a:rPr>
              <a:t>Gestion à distance : Permet le verrouillage et le déverrouillage des équipements depuis une application.</a:t>
            </a:r>
          </a:p>
          <a:p>
            <a:pPr algn="l" marL="474986" indent="-237493" lvl="1">
              <a:lnSpc>
                <a:spcPts val="3080"/>
              </a:lnSpc>
              <a:buFont typeface="Arial"/>
              <a:buChar char="•"/>
            </a:pPr>
            <a:r>
              <a:rPr lang="en-US" b="true" sz="2200">
                <a:solidFill>
                  <a:srgbClr val="000000"/>
                </a:solidFill>
                <a:latin typeface="Lato Bold"/>
                <a:ea typeface="Lato Bold"/>
                <a:cs typeface="Lato Bold"/>
                <a:sym typeface="Lato Bold"/>
              </a:rPr>
              <a:t>Historique des accès et alertes : Enregistrement de chaque accès et envoi d'alertes en cas de tentatives d'accès non autorisées.</a:t>
            </a:r>
          </a:p>
          <a:p>
            <a:pPr algn="l">
              <a:lnSpc>
                <a:spcPts val="3080"/>
              </a:lnSpc>
            </a:pPr>
          </a:p>
        </p:txBody>
      </p:sp>
      <p:sp>
        <p:nvSpPr>
          <p:cNvPr name="TextBox 13" id="13"/>
          <p:cNvSpPr txBox="true"/>
          <p:nvPr/>
        </p:nvSpPr>
        <p:spPr>
          <a:xfrm rot="0">
            <a:off x="11056271" y="593047"/>
            <a:ext cx="5716456" cy="1076324"/>
          </a:xfrm>
          <a:prstGeom prst="rect">
            <a:avLst/>
          </a:prstGeom>
        </p:spPr>
        <p:txBody>
          <a:bodyPr anchor="t" rtlCol="false" tIns="0" lIns="0" bIns="0" rIns="0">
            <a:spAutoFit/>
          </a:bodyPr>
          <a:lstStyle/>
          <a:p>
            <a:pPr algn="just">
              <a:lnSpc>
                <a:spcPts val="4200"/>
              </a:lnSpc>
            </a:pPr>
            <a:r>
              <a:rPr lang="en-US" b="true" sz="3000">
                <a:solidFill>
                  <a:srgbClr val="000000"/>
                </a:solidFill>
                <a:latin typeface="Poppins Bold"/>
                <a:ea typeface="Poppins Bold"/>
                <a:cs typeface="Poppins Bold"/>
                <a:sym typeface="Poppins Bold"/>
              </a:rPr>
              <a:t>BESOINS FONCTIONNELS</a:t>
            </a:r>
          </a:p>
          <a:p>
            <a:pPr algn="just">
              <a:lnSpc>
                <a:spcPts val="4200"/>
              </a:lnSpc>
            </a:pPr>
          </a:p>
        </p:txBody>
      </p:sp>
      <p:sp>
        <p:nvSpPr>
          <p:cNvPr name="TextBox 14" id="14"/>
          <p:cNvSpPr txBox="true"/>
          <p:nvPr/>
        </p:nvSpPr>
        <p:spPr>
          <a:xfrm rot="0">
            <a:off x="1645269" y="4413142"/>
            <a:ext cx="5946584" cy="2358625"/>
          </a:xfrm>
          <a:prstGeom prst="rect">
            <a:avLst/>
          </a:prstGeom>
        </p:spPr>
        <p:txBody>
          <a:bodyPr anchor="t" rtlCol="false" tIns="0" lIns="0" bIns="0" rIns="0">
            <a:spAutoFit/>
          </a:bodyPr>
          <a:lstStyle/>
          <a:p>
            <a:pPr algn="l">
              <a:lnSpc>
                <a:spcPts val="6102"/>
              </a:lnSpc>
            </a:pPr>
            <a:r>
              <a:rPr lang="en-US" sz="5812" b="true">
                <a:solidFill>
                  <a:srgbClr val="FFFFFF"/>
                </a:solidFill>
                <a:latin typeface="Roboto Bold"/>
                <a:ea typeface="Roboto Bold"/>
                <a:cs typeface="Roboto Bold"/>
                <a:sym typeface="Roboto Bold"/>
              </a:rPr>
              <a:t>ANALYSE DE BESIONS</a:t>
            </a:r>
          </a:p>
          <a:p>
            <a:pPr algn="l">
              <a:lnSpc>
                <a:spcPts val="6102"/>
              </a:lnSpc>
            </a:pPr>
          </a:p>
        </p:txBody>
      </p:sp>
      <p:sp>
        <p:nvSpPr>
          <p:cNvPr name="TextBox 15" id="15"/>
          <p:cNvSpPr txBox="true"/>
          <p:nvPr/>
        </p:nvSpPr>
        <p:spPr>
          <a:xfrm rot="0">
            <a:off x="11056271" y="5423420"/>
            <a:ext cx="6203029" cy="1076324"/>
          </a:xfrm>
          <a:prstGeom prst="rect">
            <a:avLst/>
          </a:prstGeom>
        </p:spPr>
        <p:txBody>
          <a:bodyPr anchor="t" rtlCol="false" tIns="0" lIns="0" bIns="0" rIns="0">
            <a:spAutoFit/>
          </a:bodyPr>
          <a:lstStyle/>
          <a:p>
            <a:pPr algn="just">
              <a:lnSpc>
                <a:spcPts val="4200"/>
              </a:lnSpc>
            </a:pPr>
            <a:r>
              <a:rPr lang="en-US" b="true" sz="3000">
                <a:solidFill>
                  <a:srgbClr val="000000"/>
                </a:solidFill>
                <a:latin typeface="Poppins Bold"/>
                <a:ea typeface="Poppins Bold"/>
                <a:cs typeface="Poppins Bold"/>
                <a:sym typeface="Poppins Bold"/>
              </a:rPr>
              <a:t>BESOINS NON FONCTIONNELS</a:t>
            </a:r>
          </a:p>
          <a:p>
            <a:pPr algn="just">
              <a:lnSpc>
                <a:spcPts val="4200"/>
              </a:lnSpc>
            </a:pPr>
          </a:p>
        </p:txBody>
      </p:sp>
      <p:sp>
        <p:nvSpPr>
          <p:cNvPr name="TextBox 16" id="16"/>
          <p:cNvSpPr txBox="true"/>
          <p:nvPr/>
        </p:nvSpPr>
        <p:spPr>
          <a:xfrm rot="0">
            <a:off x="11056271" y="6109336"/>
            <a:ext cx="6758523" cy="3896994"/>
          </a:xfrm>
          <a:prstGeom prst="rect">
            <a:avLst/>
          </a:prstGeom>
        </p:spPr>
        <p:txBody>
          <a:bodyPr anchor="t" rtlCol="false" tIns="0" lIns="0" bIns="0" rIns="0">
            <a:spAutoFit/>
          </a:bodyPr>
          <a:lstStyle/>
          <a:p>
            <a:pPr algn="l" marL="474986" indent="-237493" lvl="1">
              <a:lnSpc>
                <a:spcPts val="3080"/>
              </a:lnSpc>
              <a:buFont typeface="Arial"/>
              <a:buChar char="•"/>
            </a:pPr>
            <a:r>
              <a:rPr lang="en-US" b="true" sz="2200">
                <a:solidFill>
                  <a:srgbClr val="000000"/>
                </a:solidFill>
                <a:latin typeface="Lato Bold"/>
                <a:ea typeface="Lato Bold"/>
                <a:cs typeface="Lato Bold"/>
                <a:sym typeface="Lato Bold"/>
              </a:rPr>
              <a:t>Sécurité élevée : Garantir une protection maximale des équipements grâce à un contrôle d'accès robuste.</a:t>
            </a:r>
          </a:p>
          <a:p>
            <a:pPr algn="l" marL="474986" indent="-237493" lvl="1">
              <a:lnSpc>
                <a:spcPts val="3080"/>
              </a:lnSpc>
              <a:buFont typeface="Arial"/>
              <a:buChar char="•"/>
            </a:pPr>
            <a:r>
              <a:rPr lang="en-US" b="true" sz="2200">
                <a:solidFill>
                  <a:srgbClr val="000000"/>
                </a:solidFill>
                <a:latin typeface="Lato Bold"/>
                <a:ea typeface="Lato Bold"/>
                <a:cs typeface="Lato Bold"/>
                <a:sym typeface="Lato Bold"/>
              </a:rPr>
              <a:t>Interface ergonomique : Offrir une interface simple et intuitive pour une gestion facile des équipements.</a:t>
            </a:r>
          </a:p>
          <a:p>
            <a:pPr algn="l" marL="474986" indent="-237493" lvl="1">
              <a:lnSpc>
                <a:spcPts val="3080"/>
              </a:lnSpc>
              <a:buFont typeface="Arial"/>
              <a:buChar char="•"/>
            </a:pPr>
            <a:r>
              <a:rPr lang="en-US" b="true" sz="2200">
                <a:solidFill>
                  <a:srgbClr val="000000"/>
                </a:solidFill>
                <a:latin typeface="Lato Bold"/>
                <a:ea typeface="Lato Bold"/>
                <a:cs typeface="Lato Bold"/>
                <a:sym typeface="Lato Bold"/>
              </a:rPr>
              <a:t>Fiabilité et performance optimales : Assurer un fonctionnement stable et performant pour une utilisation continue sans interruption.</a:t>
            </a:r>
          </a:p>
          <a:p>
            <a:pPr algn="l">
              <a:lnSpc>
                <a:spcPts val="308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734163"/>
            <a:ext cx="18288000" cy="4552837"/>
            <a:chOff x="0" y="0"/>
            <a:chExt cx="5501942" cy="1369720"/>
          </a:xfrm>
        </p:grpSpPr>
        <p:sp>
          <p:nvSpPr>
            <p:cNvPr name="Freeform 3" id="3"/>
            <p:cNvSpPr/>
            <p:nvPr/>
          </p:nvSpPr>
          <p:spPr>
            <a:xfrm flipH="false" flipV="false" rot="0">
              <a:off x="0" y="0"/>
              <a:ext cx="5501942" cy="1369720"/>
            </a:xfrm>
            <a:custGeom>
              <a:avLst/>
              <a:gdLst/>
              <a:ahLst/>
              <a:cxnLst/>
              <a:rect r="r" b="b" t="t" l="l"/>
              <a:pathLst>
                <a:path h="1369720" w="5501942">
                  <a:moveTo>
                    <a:pt x="0" y="0"/>
                  </a:moveTo>
                  <a:lnTo>
                    <a:pt x="5501942" y="0"/>
                  </a:lnTo>
                  <a:lnTo>
                    <a:pt x="5501942" y="1369720"/>
                  </a:lnTo>
                  <a:lnTo>
                    <a:pt x="0" y="1369720"/>
                  </a:lnTo>
                  <a:close/>
                </a:path>
              </a:pathLst>
            </a:custGeom>
            <a:solidFill>
              <a:srgbClr val="EBE2D6"/>
            </a:solidFill>
          </p:spPr>
        </p:sp>
        <p:sp>
          <p:nvSpPr>
            <p:cNvPr name="TextBox 4" id="4"/>
            <p:cNvSpPr txBox="true"/>
            <p:nvPr/>
          </p:nvSpPr>
          <p:spPr>
            <a:xfrm>
              <a:off x="0" y="-38100"/>
              <a:ext cx="5501942" cy="140782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2435738"/>
            <a:ext cx="3020997" cy="4174612"/>
            <a:chOff x="0" y="0"/>
            <a:chExt cx="443742" cy="613192"/>
          </a:xfrm>
        </p:grpSpPr>
        <p:sp>
          <p:nvSpPr>
            <p:cNvPr name="Freeform 6" id="6"/>
            <p:cNvSpPr/>
            <p:nvPr/>
          </p:nvSpPr>
          <p:spPr>
            <a:xfrm flipH="false" flipV="false" rot="0">
              <a:off x="0" y="0"/>
              <a:ext cx="443742" cy="613192"/>
            </a:xfrm>
            <a:custGeom>
              <a:avLst/>
              <a:gdLst/>
              <a:ahLst/>
              <a:cxnLst/>
              <a:rect r="r" b="b" t="t" l="l"/>
              <a:pathLst>
                <a:path h="613192" w="443742">
                  <a:moveTo>
                    <a:pt x="0" y="0"/>
                  </a:moveTo>
                  <a:lnTo>
                    <a:pt x="443742" y="0"/>
                  </a:lnTo>
                  <a:lnTo>
                    <a:pt x="443742" y="613192"/>
                  </a:lnTo>
                  <a:lnTo>
                    <a:pt x="0" y="613192"/>
                  </a:lnTo>
                  <a:close/>
                </a:path>
              </a:pathLst>
            </a:custGeom>
            <a:blipFill>
              <a:blip r:embed="rId2"/>
              <a:stretch>
                <a:fillRect l="-17891" t="0" r="-17891" b="0"/>
              </a:stretch>
            </a:blipFill>
          </p:spPr>
        </p:sp>
      </p:grpSp>
      <p:grpSp>
        <p:nvGrpSpPr>
          <p:cNvPr name="Group 7" id="7"/>
          <p:cNvGrpSpPr/>
          <p:nvPr/>
        </p:nvGrpSpPr>
        <p:grpSpPr>
          <a:xfrm rot="0">
            <a:off x="5431099" y="2435738"/>
            <a:ext cx="3020997" cy="4174612"/>
            <a:chOff x="0" y="0"/>
            <a:chExt cx="443742" cy="613192"/>
          </a:xfrm>
        </p:grpSpPr>
        <p:sp>
          <p:nvSpPr>
            <p:cNvPr name="Freeform 8" id="8"/>
            <p:cNvSpPr/>
            <p:nvPr/>
          </p:nvSpPr>
          <p:spPr>
            <a:xfrm flipH="false" flipV="false" rot="0">
              <a:off x="0" y="0"/>
              <a:ext cx="443742" cy="613192"/>
            </a:xfrm>
            <a:custGeom>
              <a:avLst/>
              <a:gdLst/>
              <a:ahLst/>
              <a:cxnLst/>
              <a:rect r="r" b="b" t="t" l="l"/>
              <a:pathLst>
                <a:path h="613192" w="443742">
                  <a:moveTo>
                    <a:pt x="0" y="0"/>
                  </a:moveTo>
                  <a:lnTo>
                    <a:pt x="443742" y="0"/>
                  </a:lnTo>
                  <a:lnTo>
                    <a:pt x="443742" y="613192"/>
                  </a:lnTo>
                  <a:lnTo>
                    <a:pt x="0" y="613192"/>
                  </a:lnTo>
                  <a:close/>
                </a:path>
              </a:pathLst>
            </a:custGeom>
            <a:blipFill>
              <a:blip r:embed="rId3"/>
              <a:stretch>
                <a:fillRect l="-30290" t="0" r="-30290" b="0"/>
              </a:stretch>
            </a:blipFill>
          </p:spPr>
        </p:sp>
      </p:grpSp>
      <p:grpSp>
        <p:nvGrpSpPr>
          <p:cNvPr name="Group 9" id="9"/>
          <p:cNvGrpSpPr/>
          <p:nvPr/>
        </p:nvGrpSpPr>
        <p:grpSpPr>
          <a:xfrm rot="0">
            <a:off x="9833499" y="2435738"/>
            <a:ext cx="3020997" cy="4174612"/>
            <a:chOff x="0" y="0"/>
            <a:chExt cx="443742" cy="613192"/>
          </a:xfrm>
        </p:grpSpPr>
        <p:sp>
          <p:nvSpPr>
            <p:cNvPr name="Freeform 10" id="10"/>
            <p:cNvSpPr/>
            <p:nvPr/>
          </p:nvSpPr>
          <p:spPr>
            <a:xfrm flipH="false" flipV="false" rot="0">
              <a:off x="0" y="0"/>
              <a:ext cx="443742" cy="613192"/>
            </a:xfrm>
            <a:custGeom>
              <a:avLst/>
              <a:gdLst/>
              <a:ahLst/>
              <a:cxnLst/>
              <a:rect r="r" b="b" t="t" l="l"/>
              <a:pathLst>
                <a:path h="613192" w="443742">
                  <a:moveTo>
                    <a:pt x="0" y="0"/>
                  </a:moveTo>
                  <a:lnTo>
                    <a:pt x="443742" y="0"/>
                  </a:lnTo>
                  <a:lnTo>
                    <a:pt x="443742" y="613192"/>
                  </a:lnTo>
                  <a:lnTo>
                    <a:pt x="0" y="613192"/>
                  </a:lnTo>
                  <a:close/>
                </a:path>
              </a:pathLst>
            </a:custGeom>
            <a:blipFill>
              <a:blip r:embed="rId4"/>
              <a:stretch>
                <a:fillRect l="0" t="-6719" r="0" b="-6719"/>
              </a:stretch>
            </a:blipFill>
          </p:spPr>
        </p:sp>
      </p:grpSp>
      <p:grpSp>
        <p:nvGrpSpPr>
          <p:cNvPr name="Group 11" id="11"/>
          <p:cNvGrpSpPr/>
          <p:nvPr/>
        </p:nvGrpSpPr>
        <p:grpSpPr>
          <a:xfrm rot="0">
            <a:off x="14157508" y="2435738"/>
            <a:ext cx="3020997" cy="4174612"/>
            <a:chOff x="0" y="0"/>
            <a:chExt cx="443742" cy="613192"/>
          </a:xfrm>
        </p:grpSpPr>
        <p:sp>
          <p:nvSpPr>
            <p:cNvPr name="Freeform 12" id="12"/>
            <p:cNvSpPr/>
            <p:nvPr/>
          </p:nvSpPr>
          <p:spPr>
            <a:xfrm flipH="false" flipV="false" rot="0">
              <a:off x="0" y="0"/>
              <a:ext cx="443742" cy="613192"/>
            </a:xfrm>
            <a:custGeom>
              <a:avLst/>
              <a:gdLst/>
              <a:ahLst/>
              <a:cxnLst/>
              <a:rect r="r" b="b" t="t" l="l"/>
              <a:pathLst>
                <a:path h="613192" w="443742">
                  <a:moveTo>
                    <a:pt x="0" y="0"/>
                  </a:moveTo>
                  <a:lnTo>
                    <a:pt x="443742" y="0"/>
                  </a:lnTo>
                  <a:lnTo>
                    <a:pt x="443742" y="613192"/>
                  </a:lnTo>
                  <a:lnTo>
                    <a:pt x="0" y="613192"/>
                  </a:lnTo>
                  <a:close/>
                </a:path>
              </a:pathLst>
            </a:custGeom>
            <a:blipFill>
              <a:blip r:embed="rId5"/>
              <a:stretch>
                <a:fillRect l="-19093" t="0" r="-19093" b="0"/>
              </a:stretch>
            </a:blipFill>
          </p:spPr>
        </p:sp>
      </p:grpSp>
      <p:grpSp>
        <p:nvGrpSpPr>
          <p:cNvPr name="Group 13" id="13"/>
          <p:cNvGrpSpPr/>
          <p:nvPr/>
        </p:nvGrpSpPr>
        <p:grpSpPr>
          <a:xfrm rot="0">
            <a:off x="17349683" y="9345065"/>
            <a:ext cx="423967" cy="427585"/>
            <a:chOff x="0" y="0"/>
            <a:chExt cx="205716" cy="207472"/>
          </a:xfrm>
        </p:grpSpPr>
        <p:sp>
          <p:nvSpPr>
            <p:cNvPr name="Freeform 14" id="14"/>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15" id="15"/>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7</a:t>
              </a:r>
            </a:p>
          </p:txBody>
        </p:sp>
      </p:grpSp>
      <p:sp>
        <p:nvSpPr>
          <p:cNvPr name="TextBox 16" id="16"/>
          <p:cNvSpPr txBox="true"/>
          <p:nvPr/>
        </p:nvSpPr>
        <p:spPr>
          <a:xfrm rot="0">
            <a:off x="1028700" y="8036709"/>
            <a:ext cx="8883190" cy="2483363"/>
          </a:xfrm>
          <a:prstGeom prst="rect">
            <a:avLst/>
          </a:prstGeom>
        </p:spPr>
        <p:txBody>
          <a:bodyPr anchor="t" rtlCol="false" tIns="0" lIns="0" bIns="0" rIns="0">
            <a:spAutoFit/>
          </a:bodyPr>
          <a:lstStyle/>
          <a:p>
            <a:pPr algn="l">
              <a:lnSpc>
                <a:spcPts val="9981"/>
              </a:lnSpc>
            </a:pPr>
            <a:r>
              <a:rPr lang="en-US" sz="7129" spc="-235" b="true">
                <a:solidFill>
                  <a:srgbClr val="000000"/>
                </a:solidFill>
                <a:latin typeface="Roboto Bold"/>
                <a:ea typeface="Roboto Bold"/>
                <a:cs typeface="Roboto Bold"/>
                <a:sym typeface="Roboto Bold"/>
              </a:rPr>
              <a:t>ÉTUDE DE L'EXISTANT</a:t>
            </a:r>
          </a:p>
          <a:p>
            <a:pPr algn="l">
              <a:lnSpc>
                <a:spcPts val="9981"/>
              </a:lnSpc>
            </a:pPr>
          </a:p>
        </p:txBody>
      </p:sp>
      <p:sp>
        <p:nvSpPr>
          <p:cNvPr name="TextBox 17" id="17"/>
          <p:cNvSpPr txBox="true"/>
          <p:nvPr/>
        </p:nvSpPr>
        <p:spPr>
          <a:xfrm rot="0">
            <a:off x="1107091" y="1627010"/>
            <a:ext cx="2864215" cy="648300"/>
          </a:xfrm>
          <a:prstGeom prst="rect">
            <a:avLst/>
          </a:prstGeom>
        </p:spPr>
        <p:txBody>
          <a:bodyPr anchor="t" rtlCol="false" tIns="0" lIns="0" bIns="0" rIns="0">
            <a:spAutoFit/>
          </a:bodyPr>
          <a:lstStyle/>
          <a:p>
            <a:pPr algn="ctr">
              <a:lnSpc>
                <a:spcPts val="2591"/>
              </a:lnSpc>
            </a:pPr>
            <a:r>
              <a:rPr lang="en-US" b="true" sz="1851">
                <a:solidFill>
                  <a:srgbClr val="000000"/>
                </a:solidFill>
                <a:latin typeface="Poppins Bold"/>
                <a:ea typeface="Poppins Bold"/>
                <a:cs typeface="Poppins Bold"/>
                <a:sym typeface="Poppins Bold"/>
              </a:rPr>
              <a:t>PHILIPS HUE</a:t>
            </a:r>
          </a:p>
          <a:p>
            <a:pPr algn="ctr">
              <a:lnSpc>
                <a:spcPts val="2591"/>
              </a:lnSpc>
            </a:pPr>
          </a:p>
        </p:txBody>
      </p:sp>
      <p:sp>
        <p:nvSpPr>
          <p:cNvPr name="TextBox 18" id="18"/>
          <p:cNvSpPr txBox="true"/>
          <p:nvPr/>
        </p:nvSpPr>
        <p:spPr>
          <a:xfrm rot="0">
            <a:off x="1107091" y="2016038"/>
            <a:ext cx="2864215" cy="638775"/>
          </a:xfrm>
          <a:prstGeom prst="rect">
            <a:avLst/>
          </a:prstGeom>
        </p:spPr>
        <p:txBody>
          <a:bodyPr anchor="t" rtlCol="false" tIns="0" lIns="0" bIns="0" rIns="0">
            <a:spAutoFit/>
          </a:bodyPr>
          <a:lstStyle/>
          <a:p>
            <a:pPr algn="ctr">
              <a:lnSpc>
                <a:spcPts val="2591"/>
              </a:lnSpc>
            </a:pPr>
            <a:r>
              <a:rPr lang="en-US" sz="1851">
                <a:solidFill>
                  <a:srgbClr val="000000"/>
                </a:solidFill>
                <a:latin typeface="Lato"/>
                <a:ea typeface="Lato"/>
                <a:cs typeface="Lato"/>
                <a:sym typeface="Lato"/>
              </a:rPr>
              <a:t>170 DT</a:t>
            </a:r>
          </a:p>
          <a:p>
            <a:pPr algn="ctr">
              <a:lnSpc>
                <a:spcPts val="2591"/>
              </a:lnSpc>
            </a:pPr>
          </a:p>
        </p:txBody>
      </p:sp>
      <p:sp>
        <p:nvSpPr>
          <p:cNvPr name="TextBox 19" id="19"/>
          <p:cNvSpPr txBox="true"/>
          <p:nvPr/>
        </p:nvSpPr>
        <p:spPr>
          <a:xfrm rot="0">
            <a:off x="5509490" y="1627010"/>
            <a:ext cx="2864215" cy="648300"/>
          </a:xfrm>
          <a:prstGeom prst="rect">
            <a:avLst/>
          </a:prstGeom>
        </p:spPr>
        <p:txBody>
          <a:bodyPr anchor="t" rtlCol="false" tIns="0" lIns="0" bIns="0" rIns="0">
            <a:spAutoFit/>
          </a:bodyPr>
          <a:lstStyle/>
          <a:p>
            <a:pPr algn="ctr">
              <a:lnSpc>
                <a:spcPts val="2591"/>
              </a:lnSpc>
            </a:pPr>
            <a:r>
              <a:rPr lang="en-US" b="true" sz="1851">
                <a:solidFill>
                  <a:srgbClr val="000000"/>
                </a:solidFill>
                <a:latin typeface="Poppins Bold"/>
                <a:ea typeface="Poppins Bold"/>
                <a:cs typeface="Poppins Bold"/>
                <a:sym typeface="Poppins Bold"/>
              </a:rPr>
              <a:t>TP-LINK KASA SMART</a:t>
            </a:r>
          </a:p>
          <a:p>
            <a:pPr algn="ctr">
              <a:lnSpc>
                <a:spcPts val="2591"/>
              </a:lnSpc>
            </a:pPr>
          </a:p>
        </p:txBody>
      </p:sp>
      <p:sp>
        <p:nvSpPr>
          <p:cNvPr name="TextBox 20" id="20"/>
          <p:cNvSpPr txBox="true"/>
          <p:nvPr/>
        </p:nvSpPr>
        <p:spPr>
          <a:xfrm rot="0">
            <a:off x="5509490" y="2016038"/>
            <a:ext cx="2864215" cy="638775"/>
          </a:xfrm>
          <a:prstGeom prst="rect">
            <a:avLst/>
          </a:prstGeom>
        </p:spPr>
        <p:txBody>
          <a:bodyPr anchor="t" rtlCol="false" tIns="0" lIns="0" bIns="0" rIns="0">
            <a:spAutoFit/>
          </a:bodyPr>
          <a:lstStyle/>
          <a:p>
            <a:pPr algn="ctr">
              <a:lnSpc>
                <a:spcPts val="2591"/>
              </a:lnSpc>
            </a:pPr>
            <a:r>
              <a:rPr lang="en-US" sz="1851">
                <a:solidFill>
                  <a:srgbClr val="000000"/>
                </a:solidFill>
                <a:latin typeface="Lato"/>
                <a:ea typeface="Lato"/>
                <a:cs typeface="Lato"/>
                <a:sym typeface="Lato"/>
              </a:rPr>
              <a:t>90 DT</a:t>
            </a:r>
          </a:p>
          <a:p>
            <a:pPr algn="ctr">
              <a:lnSpc>
                <a:spcPts val="2591"/>
              </a:lnSpc>
            </a:pPr>
          </a:p>
        </p:txBody>
      </p:sp>
      <p:sp>
        <p:nvSpPr>
          <p:cNvPr name="TextBox 21" id="21"/>
          <p:cNvSpPr txBox="true"/>
          <p:nvPr/>
        </p:nvSpPr>
        <p:spPr>
          <a:xfrm rot="0">
            <a:off x="9911890" y="1627010"/>
            <a:ext cx="2864215" cy="648300"/>
          </a:xfrm>
          <a:prstGeom prst="rect">
            <a:avLst/>
          </a:prstGeom>
        </p:spPr>
        <p:txBody>
          <a:bodyPr anchor="t" rtlCol="false" tIns="0" lIns="0" bIns="0" rIns="0">
            <a:spAutoFit/>
          </a:bodyPr>
          <a:lstStyle/>
          <a:p>
            <a:pPr algn="ctr">
              <a:lnSpc>
                <a:spcPts val="2591"/>
              </a:lnSpc>
            </a:pPr>
            <a:r>
              <a:rPr lang="en-US" b="true" sz="1851">
                <a:solidFill>
                  <a:srgbClr val="000000"/>
                </a:solidFill>
                <a:latin typeface="Poppins Bold"/>
                <a:ea typeface="Poppins Bold"/>
                <a:cs typeface="Poppins Bold"/>
                <a:sym typeface="Poppins Bold"/>
              </a:rPr>
              <a:t>GOOGLE HOME</a:t>
            </a:r>
          </a:p>
          <a:p>
            <a:pPr algn="ctr">
              <a:lnSpc>
                <a:spcPts val="2591"/>
              </a:lnSpc>
            </a:pPr>
          </a:p>
        </p:txBody>
      </p:sp>
      <p:sp>
        <p:nvSpPr>
          <p:cNvPr name="TextBox 22" id="22"/>
          <p:cNvSpPr txBox="true"/>
          <p:nvPr/>
        </p:nvSpPr>
        <p:spPr>
          <a:xfrm rot="0">
            <a:off x="9911890" y="2016038"/>
            <a:ext cx="2864215" cy="638775"/>
          </a:xfrm>
          <a:prstGeom prst="rect">
            <a:avLst/>
          </a:prstGeom>
        </p:spPr>
        <p:txBody>
          <a:bodyPr anchor="t" rtlCol="false" tIns="0" lIns="0" bIns="0" rIns="0">
            <a:spAutoFit/>
          </a:bodyPr>
          <a:lstStyle/>
          <a:p>
            <a:pPr algn="ctr">
              <a:lnSpc>
                <a:spcPts val="2591"/>
              </a:lnSpc>
            </a:pPr>
            <a:r>
              <a:rPr lang="en-US" sz="1851">
                <a:solidFill>
                  <a:srgbClr val="000000"/>
                </a:solidFill>
                <a:latin typeface="Lato"/>
                <a:ea typeface="Lato"/>
                <a:cs typeface="Lato"/>
                <a:sym typeface="Lato"/>
              </a:rPr>
              <a:t>200 DT</a:t>
            </a:r>
          </a:p>
          <a:p>
            <a:pPr algn="ctr">
              <a:lnSpc>
                <a:spcPts val="2591"/>
              </a:lnSpc>
            </a:pPr>
          </a:p>
        </p:txBody>
      </p:sp>
      <p:sp>
        <p:nvSpPr>
          <p:cNvPr name="TextBox 23" id="23"/>
          <p:cNvSpPr txBox="true"/>
          <p:nvPr/>
        </p:nvSpPr>
        <p:spPr>
          <a:xfrm rot="0">
            <a:off x="14143110" y="1627010"/>
            <a:ext cx="3035394" cy="648300"/>
          </a:xfrm>
          <a:prstGeom prst="rect">
            <a:avLst/>
          </a:prstGeom>
        </p:spPr>
        <p:txBody>
          <a:bodyPr anchor="t" rtlCol="false" tIns="0" lIns="0" bIns="0" rIns="0">
            <a:spAutoFit/>
          </a:bodyPr>
          <a:lstStyle/>
          <a:p>
            <a:pPr algn="ctr">
              <a:lnSpc>
                <a:spcPts val="2591"/>
              </a:lnSpc>
            </a:pPr>
            <a:r>
              <a:rPr lang="en-US" b="true" sz="1851">
                <a:solidFill>
                  <a:srgbClr val="000000"/>
                </a:solidFill>
                <a:latin typeface="Poppins Bold"/>
                <a:ea typeface="Poppins Bold"/>
                <a:cs typeface="Poppins Bold"/>
                <a:sym typeface="Poppins Bold"/>
              </a:rPr>
              <a:t>SAMSUNG SMARTTHINGS</a:t>
            </a:r>
          </a:p>
          <a:p>
            <a:pPr algn="ctr">
              <a:lnSpc>
                <a:spcPts val="2591"/>
              </a:lnSpc>
            </a:pPr>
          </a:p>
        </p:txBody>
      </p:sp>
      <p:sp>
        <p:nvSpPr>
          <p:cNvPr name="TextBox 24" id="24"/>
          <p:cNvSpPr txBox="true"/>
          <p:nvPr/>
        </p:nvSpPr>
        <p:spPr>
          <a:xfrm rot="0">
            <a:off x="14314289" y="2016038"/>
            <a:ext cx="2864215" cy="638775"/>
          </a:xfrm>
          <a:prstGeom prst="rect">
            <a:avLst/>
          </a:prstGeom>
        </p:spPr>
        <p:txBody>
          <a:bodyPr anchor="t" rtlCol="false" tIns="0" lIns="0" bIns="0" rIns="0">
            <a:spAutoFit/>
          </a:bodyPr>
          <a:lstStyle/>
          <a:p>
            <a:pPr algn="ctr">
              <a:lnSpc>
                <a:spcPts val="2591"/>
              </a:lnSpc>
            </a:pPr>
            <a:r>
              <a:rPr lang="en-US" sz="1851">
                <a:solidFill>
                  <a:srgbClr val="000000"/>
                </a:solidFill>
                <a:latin typeface="Lato"/>
                <a:ea typeface="Lato"/>
                <a:cs typeface="Lato"/>
                <a:sym typeface="Lato"/>
              </a:rPr>
              <a:t>450 DT</a:t>
            </a:r>
          </a:p>
          <a:p>
            <a:pPr algn="ctr">
              <a:lnSpc>
                <a:spcPts val="2591"/>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869621" cy="2677299"/>
            <a:chOff x="0" y="0"/>
            <a:chExt cx="863325" cy="805465"/>
          </a:xfrm>
        </p:grpSpPr>
        <p:sp>
          <p:nvSpPr>
            <p:cNvPr name="Freeform 3" id="3"/>
            <p:cNvSpPr/>
            <p:nvPr/>
          </p:nvSpPr>
          <p:spPr>
            <a:xfrm flipH="false" flipV="false" rot="0">
              <a:off x="0" y="0"/>
              <a:ext cx="863325" cy="805465"/>
            </a:xfrm>
            <a:custGeom>
              <a:avLst/>
              <a:gdLst/>
              <a:ahLst/>
              <a:cxnLst/>
              <a:rect r="r" b="b" t="t" l="l"/>
              <a:pathLst>
                <a:path h="805465" w="863325">
                  <a:moveTo>
                    <a:pt x="0" y="0"/>
                  </a:moveTo>
                  <a:lnTo>
                    <a:pt x="863325" y="0"/>
                  </a:lnTo>
                  <a:lnTo>
                    <a:pt x="863325" y="805465"/>
                  </a:lnTo>
                  <a:lnTo>
                    <a:pt x="0" y="805465"/>
                  </a:lnTo>
                  <a:close/>
                </a:path>
              </a:pathLst>
            </a:custGeom>
            <a:solidFill>
              <a:srgbClr val="202020"/>
            </a:solidFill>
          </p:spPr>
        </p:sp>
        <p:sp>
          <p:nvSpPr>
            <p:cNvPr name="TextBox 4" id="4"/>
            <p:cNvSpPr txBox="true"/>
            <p:nvPr/>
          </p:nvSpPr>
          <p:spPr>
            <a:xfrm>
              <a:off x="0" y="-38100"/>
              <a:ext cx="863325" cy="84356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421146" y="7601728"/>
            <a:ext cx="2869621" cy="2677299"/>
            <a:chOff x="0" y="0"/>
            <a:chExt cx="863325" cy="805465"/>
          </a:xfrm>
        </p:grpSpPr>
        <p:sp>
          <p:nvSpPr>
            <p:cNvPr name="Freeform 6" id="6"/>
            <p:cNvSpPr/>
            <p:nvPr/>
          </p:nvSpPr>
          <p:spPr>
            <a:xfrm flipH="false" flipV="false" rot="0">
              <a:off x="0" y="0"/>
              <a:ext cx="863325" cy="805465"/>
            </a:xfrm>
            <a:custGeom>
              <a:avLst/>
              <a:gdLst/>
              <a:ahLst/>
              <a:cxnLst/>
              <a:rect r="r" b="b" t="t" l="l"/>
              <a:pathLst>
                <a:path h="805465" w="863325">
                  <a:moveTo>
                    <a:pt x="0" y="0"/>
                  </a:moveTo>
                  <a:lnTo>
                    <a:pt x="863325" y="0"/>
                  </a:lnTo>
                  <a:lnTo>
                    <a:pt x="863325" y="805465"/>
                  </a:lnTo>
                  <a:lnTo>
                    <a:pt x="0" y="805465"/>
                  </a:lnTo>
                  <a:close/>
                </a:path>
              </a:pathLst>
            </a:custGeom>
            <a:solidFill>
              <a:srgbClr val="202020"/>
            </a:solidFill>
          </p:spPr>
        </p:sp>
        <p:sp>
          <p:nvSpPr>
            <p:cNvPr name="TextBox 7" id="7"/>
            <p:cNvSpPr txBox="true"/>
            <p:nvPr/>
          </p:nvSpPr>
          <p:spPr>
            <a:xfrm>
              <a:off x="0" y="-38100"/>
              <a:ext cx="863325" cy="84356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513911" y="-3487089"/>
            <a:ext cx="9258300" cy="17261177"/>
            <a:chOff x="0" y="0"/>
            <a:chExt cx="2438400" cy="4546154"/>
          </a:xfrm>
        </p:grpSpPr>
        <p:sp>
          <p:nvSpPr>
            <p:cNvPr name="Freeform 9" id="9"/>
            <p:cNvSpPr/>
            <p:nvPr/>
          </p:nvSpPr>
          <p:spPr>
            <a:xfrm flipH="false" flipV="false" rot="0">
              <a:off x="0" y="0"/>
              <a:ext cx="2438400" cy="4546154"/>
            </a:xfrm>
            <a:custGeom>
              <a:avLst/>
              <a:gdLst/>
              <a:ahLst/>
              <a:cxnLst/>
              <a:rect r="r" b="b" t="t" l="l"/>
              <a:pathLst>
                <a:path h="4546154" w="2438400">
                  <a:moveTo>
                    <a:pt x="0" y="0"/>
                  </a:moveTo>
                  <a:lnTo>
                    <a:pt x="2438400" y="0"/>
                  </a:lnTo>
                  <a:lnTo>
                    <a:pt x="2438400" y="4546154"/>
                  </a:lnTo>
                  <a:lnTo>
                    <a:pt x="0" y="4546154"/>
                  </a:lnTo>
                  <a:close/>
                </a:path>
              </a:pathLst>
            </a:custGeom>
            <a:solidFill>
              <a:srgbClr val="F8F5F1"/>
            </a:solidFill>
          </p:spPr>
        </p:sp>
        <p:sp>
          <p:nvSpPr>
            <p:cNvPr name="TextBox 10" id="10"/>
            <p:cNvSpPr txBox="true"/>
            <p:nvPr/>
          </p:nvSpPr>
          <p:spPr>
            <a:xfrm>
              <a:off x="0" y="-38100"/>
              <a:ext cx="2438400" cy="4584254"/>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5400000">
            <a:off x="1049646" y="4201589"/>
            <a:ext cx="6456619" cy="3798774"/>
          </a:xfrm>
          <a:custGeom>
            <a:avLst/>
            <a:gdLst/>
            <a:ahLst/>
            <a:cxnLst/>
            <a:rect r="r" b="b" t="t" l="l"/>
            <a:pathLst>
              <a:path h="3798774" w="6456619">
                <a:moveTo>
                  <a:pt x="0" y="0"/>
                </a:moveTo>
                <a:lnTo>
                  <a:pt x="6456619" y="0"/>
                </a:lnTo>
                <a:lnTo>
                  <a:pt x="6456619" y="3798774"/>
                </a:lnTo>
                <a:lnTo>
                  <a:pt x="0" y="3798774"/>
                </a:lnTo>
                <a:lnTo>
                  <a:pt x="0" y="0"/>
                </a:lnTo>
                <a:close/>
              </a:path>
            </a:pathLst>
          </a:custGeom>
          <a:blipFill>
            <a:blip r:embed="rId2"/>
            <a:stretch>
              <a:fillRect l="0" t="0" r="0" b="0"/>
            </a:stretch>
          </a:blipFill>
        </p:spPr>
      </p:sp>
      <p:grpSp>
        <p:nvGrpSpPr>
          <p:cNvPr name="Group 12" id="12"/>
          <p:cNvGrpSpPr/>
          <p:nvPr/>
        </p:nvGrpSpPr>
        <p:grpSpPr>
          <a:xfrm rot="0">
            <a:off x="2488868" y="2428727"/>
            <a:ext cx="3578175" cy="6778588"/>
            <a:chOff x="0" y="0"/>
            <a:chExt cx="942400" cy="1785307"/>
          </a:xfrm>
        </p:grpSpPr>
        <p:sp>
          <p:nvSpPr>
            <p:cNvPr name="Freeform 13" id="13"/>
            <p:cNvSpPr/>
            <p:nvPr/>
          </p:nvSpPr>
          <p:spPr>
            <a:xfrm flipH="false" flipV="false" rot="0">
              <a:off x="0" y="0"/>
              <a:ext cx="942400" cy="1785307"/>
            </a:xfrm>
            <a:custGeom>
              <a:avLst/>
              <a:gdLst/>
              <a:ahLst/>
              <a:cxnLst/>
              <a:rect r="r" b="b" t="t" l="l"/>
              <a:pathLst>
                <a:path h="1785307" w="942400">
                  <a:moveTo>
                    <a:pt x="10818" y="0"/>
                  </a:moveTo>
                  <a:lnTo>
                    <a:pt x="931582" y="0"/>
                  </a:lnTo>
                  <a:cubicBezTo>
                    <a:pt x="937556" y="0"/>
                    <a:pt x="942400" y="4843"/>
                    <a:pt x="942400" y="10818"/>
                  </a:cubicBezTo>
                  <a:lnTo>
                    <a:pt x="942400" y="1774489"/>
                  </a:lnTo>
                  <a:cubicBezTo>
                    <a:pt x="942400" y="1777358"/>
                    <a:pt x="941260" y="1780110"/>
                    <a:pt x="939231" y="1782139"/>
                  </a:cubicBezTo>
                  <a:cubicBezTo>
                    <a:pt x="937202" y="1784167"/>
                    <a:pt x="934451" y="1785307"/>
                    <a:pt x="931582" y="1785307"/>
                  </a:cubicBezTo>
                  <a:lnTo>
                    <a:pt x="10818" y="1785307"/>
                  </a:lnTo>
                  <a:cubicBezTo>
                    <a:pt x="4843" y="1785307"/>
                    <a:pt x="0" y="1780464"/>
                    <a:pt x="0" y="1774489"/>
                  </a:cubicBezTo>
                  <a:lnTo>
                    <a:pt x="0" y="10818"/>
                  </a:lnTo>
                  <a:cubicBezTo>
                    <a:pt x="0" y="4843"/>
                    <a:pt x="4843" y="0"/>
                    <a:pt x="10818" y="0"/>
                  </a:cubicBezTo>
                  <a:close/>
                </a:path>
              </a:pathLst>
            </a:custGeom>
            <a:solidFill>
              <a:srgbClr val="FFFFFF"/>
            </a:solidFill>
          </p:spPr>
        </p:sp>
        <p:sp>
          <p:nvSpPr>
            <p:cNvPr name="TextBox 14" id="14"/>
            <p:cNvSpPr txBox="true"/>
            <p:nvPr/>
          </p:nvSpPr>
          <p:spPr>
            <a:xfrm>
              <a:off x="0" y="-38100"/>
              <a:ext cx="942400" cy="1823407"/>
            </a:xfrm>
            <a:prstGeom prst="rect">
              <a:avLst/>
            </a:prstGeom>
          </p:spPr>
          <p:txBody>
            <a:bodyPr anchor="ctr" rtlCol="false" tIns="50800" lIns="50800" bIns="50800" rIns="50800"/>
            <a:lstStyle/>
            <a:p>
              <a:pPr algn="ctr">
                <a:lnSpc>
                  <a:spcPts val="2660"/>
                </a:lnSpc>
              </a:pPr>
            </a:p>
          </p:txBody>
        </p:sp>
      </p:grpSp>
      <p:sp>
        <p:nvSpPr>
          <p:cNvPr name="Freeform 15" id="15"/>
          <p:cNvSpPr/>
          <p:nvPr/>
        </p:nvSpPr>
        <p:spPr>
          <a:xfrm flipH="false" flipV="false" rot="0">
            <a:off x="2869836" y="4934016"/>
            <a:ext cx="242810" cy="182108"/>
          </a:xfrm>
          <a:custGeom>
            <a:avLst/>
            <a:gdLst/>
            <a:ahLst/>
            <a:cxnLst/>
            <a:rect r="r" b="b" t="t" l="l"/>
            <a:pathLst>
              <a:path h="182108" w="242810">
                <a:moveTo>
                  <a:pt x="0" y="0"/>
                </a:moveTo>
                <a:lnTo>
                  <a:pt x="242810" y="0"/>
                </a:lnTo>
                <a:lnTo>
                  <a:pt x="242810" y="182108"/>
                </a:lnTo>
                <a:lnTo>
                  <a:pt x="0" y="1821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2869621" y="6798909"/>
            <a:ext cx="242810" cy="182108"/>
          </a:xfrm>
          <a:custGeom>
            <a:avLst/>
            <a:gdLst/>
            <a:ahLst/>
            <a:cxnLst/>
            <a:rect r="r" b="b" t="t" l="l"/>
            <a:pathLst>
              <a:path h="182108" w="242810">
                <a:moveTo>
                  <a:pt x="0" y="0"/>
                </a:moveTo>
                <a:lnTo>
                  <a:pt x="242810" y="0"/>
                </a:lnTo>
                <a:lnTo>
                  <a:pt x="242810" y="182107"/>
                </a:lnTo>
                <a:lnTo>
                  <a:pt x="0" y="1821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2488868" y="2252748"/>
            <a:ext cx="3578175" cy="1759637"/>
            <a:chOff x="0" y="0"/>
            <a:chExt cx="942400" cy="463444"/>
          </a:xfrm>
        </p:grpSpPr>
        <p:sp>
          <p:nvSpPr>
            <p:cNvPr name="Freeform 18" id="18"/>
            <p:cNvSpPr/>
            <p:nvPr/>
          </p:nvSpPr>
          <p:spPr>
            <a:xfrm flipH="false" flipV="false" rot="0">
              <a:off x="0" y="0"/>
              <a:ext cx="942400" cy="463444"/>
            </a:xfrm>
            <a:custGeom>
              <a:avLst/>
              <a:gdLst/>
              <a:ahLst/>
              <a:cxnLst/>
              <a:rect r="r" b="b" t="t" l="l"/>
              <a:pathLst>
                <a:path h="463444" w="942400">
                  <a:moveTo>
                    <a:pt x="32455" y="0"/>
                  </a:moveTo>
                  <a:lnTo>
                    <a:pt x="909945" y="0"/>
                  </a:lnTo>
                  <a:cubicBezTo>
                    <a:pt x="927869" y="0"/>
                    <a:pt x="942400" y="14530"/>
                    <a:pt x="942400" y="32455"/>
                  </a:cubicBezTo>
                  <a:lnTo>
                    <a:pt x="942400" y="430989"/>
                  </a:lnTo>
                  <a:cubicBezTo>
                    <a:pt x="942400" y="448913"/>
                    <a:pt x="927869" y="463444"/>
                    <a:pt x="909945" y="463444"/>
                  </a:cubicBezTo>
                  <a:lnTo>
                    <a:pt x="32455" y="463444"/>
                  </a:lnTo>
                  <a:cubicBezTo>
                    <a:pt x="14530" y="463444"/>
                    <a:pt x="0" y="448913"/>
                    <a:pt x="0" y="430989"/>
                  </a:cubicBezTo>
                  <a:lnTo>
                    <a:pt x="0" y="32455"/>
                  </a:lnTo>
                  <a:cubicBezTo>
                    <a:pt x="0" y="14530"/>
                    <a:pt x="14530" y="0"/>
                    <a:pt x="32455" y="0"/>
                  </a:cubicBezTo>
                  <a:close/>
                </a:path>
              </a:pathLst>
            </a:custGeom>
            <a:solidFill>
              <a:srgbClr val="040606"/>
            </a:solidFill>
          </p:spPr>
        </p:sp>
        <p:sp>
          <p:nvSpPr>
            <p:cNvPr name="TextBox 19" id="19"/>
            <p:cNvSpPr txBox="true"/>
            <p:nvPr/>
          </p:nvSpPr>
          <p:spPr>
            <a:xfrm>
              <a:off x="0" y="-38100"/>
              <a:ext cx="942400" cy="501544"/>
            </a:xfrm>
            <a:prstGeom prst="rect">
              <a:avLst/>
            </a:prstGeom>
          </p:spPr>
          <p:txBody>
            <a:bodyPr anchor="ctr" rtlCol="false" tIns="50800" lIns="50800" bIns="50800" rIns="50800"/>
            <a:lstStyle/>
            <a:p>
              <a:pPr algn="ctr">
                <a:lnSpc>
                  <a:spcPts val="2660"/>
                </a:lnSpc>
              </a:pPr>
            </a:p>
          </p:txBody>
        </p:sp>
      </p:grpSp>
      <p:sp>
        <p:nvSpPr>
          <p:cNvPr name="Freeform 20" id="20"/>
          <p:cNvSpPr/>
          <p:nvPr/>
        </p:nvSpPr>
        <p:spPr>
          <a:xfrm flipH="false" flipV="false" rot="0">
            <a:off x="4155496" y="2432379"/>
            <a:ext cx="244920" cy="244920"/>
          </a:xfrm>
          <a:custGeom>
            <a:avLst/>
            <a:gdLst/>
            <a:ahLst/>
            <a:cxnLst/>
            <a:rect r="r" b="b" t="t" l="l"/>
            <a:pathLst>
              <a:path h="244920" w="244920">
                <a:moveTo>
                  <a:pt x="0" y="0"/>
                </a:moveTo>
                <a:lnTo>
                  <a:pt x="244919" y="0"/>
                </a:lnTo>
                <a:lnTo>
                  <a:pt x="244919" y="244920"/>
                </a:lnTo>
                <a:lnTo>
                  <a:pt x="0" y="244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2488868" y="3662418"/>
            <a:ext cx="3578175" cy="535227"/>
            <a:chOff x="0" y="0"/>
            <a:chExt cx="942400" cy="140965"/>
          </a:xfrm>
        </p:grpSpPr>
        <p:sp>
          <p:nvSpPr>
            <p:cNvPr name="Freeform 22" id="22"/>
            <p:cNvSpPr/>
            <p:nvPr/>
          </p:nvSpPr>
          <p:spPr>
            <a:xfrm flipH="false" flipV="false" rot="0">
              <a:off x="0" y="0"/>
              <a:ext cx="942400" cy="140965"/>
            </a:xfrm>
            <a:custGeom>
              <a:avLst/>
              <a:gdLst/>
              <a:ahLst/>
              <a:cxnLst/>
              <a:rect r="r" b="b" t="t" l="l"/>
              <a:pathLst>
                <a:path h="140965" w="942400">
                  <a:moveTo>
                    <a:pt x="0" y="0"/>
                  </a:moveTo>
                  <a:lnTo>
                    <a:pt x="942400" y="0"/>
                  </a:lnTo>
                  <a:lnTo>
                    <a:pt x="942400" y="140965"/>
                  </a:lnTo>
                  <a:lnTo>
                    <a:pt x="0" y="140965"/>
                  </a:lnTo>
                  <a:close/>
                </a:path>
              </a:pathLst>
            </a:custGeom>
            <a:solidFill>
              <a:srgbClr val="040606"/>
            </a:solidFill>
          </p:spPr>
        </p:sp>
        <p:sp>
          <p:nvSpPr>
            <p:cNvPr name="TextBox 23" id="23"/>
            <p:cNvSpPr txBox="true"/>
            <p:nvPr/>
          </p:nvSpPr>
          <p:spPr>
            <a:xfrm>
              <a:off x="0" y="-38100"/>
              <a:ext cx="942400" cy="179065"/>
            </a:xfrm>
            <a:prstGeom prst="rect">
              <a:avLst/>
            </a:prstGeom>
          </p:spPr>
          <p:txBody>
            <a:bodyPr anchor="ctr" rtlCol="false" tIns="50800" lIns="50800" bIns="50800" rIns="50800"/>
            <a:lstStyle/>
            <a:p>
              <a:pPr algn="ctr">
                <a:lnSpc>
                  <a:spcPts val="2660"/>
                </a:lnSpc>
              </a:pPr>
            </a:p>
          </p:txBody>
        </p:sp>
      </p:grpSp>
      <p:sp>
        <p:nvSpPr>
          <p:cNvPr name="TextBox 24" id="24"/>
          <p:cNvSpPr txBox="true"/>
          <p:nvPr/>
        </p:nvSpPr>
        <p:spPr>
          <a:xfrm rot="0">
            <a:off x="3256809" y="4753190"/>
            <a:ext cx="2540004" cy="1474736"/>
          </a:xfrm>
          <a:prstGeom prst="rect">
            <a:avLst/>
          </a:prstGeom>
        </p:spPr>
        <p:txBody>
          <a:bodyPr anchor="t" rtlCol="false" tIns="0" lIns="0" bIns="0" rIns="0">
            <a:spAutoFit/>
          </a:bodyPr>
          <a:lstStyle/>
          <a:p>
            <a:pPr algn="l">
              <a:lnSpc>
                <a:spcPts val="2940"/>
              </a:lnSpc>
            </a:pPr>
            <a:r>
              <a:rPr lang="en-US" sz="2100">
                <a:solidFill>
                  <a:srgbClr val="000000"/>
                </a:solidFill>
                <a:latin typeface="Lato"/>
                <a:ea typeface="Lato"/>
                <a:cs typeface="Lato"/>
                <a:sym typeface="Lato"/>
              </a:rPr>
              <a:t>Géré les mots de passes et </a:t>
            </a:r>
          </a:p>
          <a:p>
            <a:pPr algn="l">
              <a:lnSpc>
                <a:spcPts val="2940"/>
              </a:lnSpc>
            </a:pPr>
            <a:r>
              <a:rPr lang="en-US" sz="2100">
                <a:solidFill>
                  <a:srgbClr val="000000"/>
                </a:solidFill>
                <a:latin typeface="Lato"/>
                <a:ea typeface="Lato"/>
                <a:cs typeface="Lato"/>
                <a:sym typeface="Lato"/>
              </a:rPr>
              <a:t>les utilisateurs</a:t>
            </a:r>
          </a:p>
          <a:p>
            <a:pPr algn="l">
              <a:lnSpc>
                <a:spcPts val="2940"/>
              </a:lnSpc>
            </a:pPr>
          </a:p>
        </p:txBody>
      </p:sp>
      <p:sp>
        <p:nvSpPr>
          <p:cNvPr name="TextBox 25" id="25"/>
          <p:cNvSpPr txBox="true"/>
          <p:nvPr/>
        </p:nvSpPr>
        <p:spPr>
          <a:xfrm rot="0">
            <a:off x="2869836" y="3065892"/>
            <a:ext cx="2822202" cy="844282"/>
          </a:xfrm>
          <a:prstGeom prst="rect">
            <a:avLst/>
          </a:prstGeom>
        </p:spPr>
        <p:txBody>
          <a:bodyPr anchor="t" rtlCol="false" tIns="0" lIns="0" bIns="0" rIns="0">
            <a:spAutoFit/>
          </a:bodyPr>
          <a:lstStyle/>
          <a:p>
            <a:pPr algn="ctr">
              <a:lnSpc>
                <a:spcPts val="3339"/>
              </a:lnSpc>
            </a:pPr>
            <a:r>
              <a:rPr lang="en-US" b="true" sz="2385">
                <a:solidFill>
                  <a:srgbClr val="FFFFFF"/>
                </a:solidFill>
                <a:latin typeface="Poppins Bold"/>
                <a:ea typeface="Poppins Bold"/>
                <a:cs typeface="Poppins Bold"/>
                <a:sym typeface="Poppins Bold"/>
              </a:rPr>
              <a:t>ADMINISTRATEUR</a:t>
            </a:r>
          </a:p>
          <a:p>
            <a:pPr algn="ctr">
              <a:lnSpc>
                <a:spcPts val="3339"/>
              </a:lnSpc>
            </a:pPr>
          </a:p>
        </p:txBody>
      </p:sp>
      <p:sp>
        <p:nvSpPr>
          <p:cNvPr name="Freeform 26" id="26"/>
          <p:cNvSpPr/>
          <p:nvPr/>
        </p:nvSpPr>
        <p:spPr>
          <a:xfrm flipH="false" flipV="false" rot="5400000">
            <a:off x="10781735" y="4201589"/>
            <a:ext cx="6456619" cy="3798774"/>
          </a:xfrm>
          <a:custGeom>
            <a:avLst/>
            <a:gdLst/>
            <a:ahLst/>
            <a:cxnLst/>
            <a:rect r="r" b="b" t="t" l="l"/>
            <a:pathLst>
              <a:path h="3798774" w="6456619">
                <a:moveTo>
                  <a:pt x="0" y="0"/>
                </a:moveTo>
                <a:lnTo>
                  <a:pt x="6456619" y="0"/>
                </a:lnTo>
                <a:lnTo>
                  <a:pt x="6456619" y="3798774"/>
                </a:lnTo>
                <a:lnTo>
                  <a:pt x="0" y="3798774"/>
                </a:lnTo>
                <a:lnTo>
                  <a:pt x="0" y="0"/>
                </a:lnTo>
                <a:close/>
              </a:path>
            </a:pathLst>
          </a:custGeom>
          <a:blipFill>
            <a:blip r:embed="rId2"/>
            <a:stretch>
              <a:fillRect l="0" t="0" r="0" b="0"/>
            </a:stretch>
          </a:blipFill>
        </p:spPr>
      </p:sp>
      <p:grpSp>
        <p:nvGrpSpPr>
          <p:cNvPr name="Group 27" id="27"/>
          <p:cNvGrpSpPr/>
          <p:nvPr/>
        </p:nvGrpSpPr>
        <p:grpSpPr>
          <a:xfrm rot="0">
            <a:off x="12220957" y="2428727"/>
            <a:ext cx="3578175" cy="6778588"/>
            <a:chOff x="0" y="0"/>
            <a:chExt cx="942400" cy="1785307"/>
          </a:xfrm>
        </p:grpSpPr>
        <p:sp>
          <p:nvSpPr>
            <p:cNvPr name="Freeform 28" id="28"/>
            <p:cNvSpPr/>
            <p:nvPr/>
          </p:nvSpPr>
          <p:spPr>
            <a:xfrm flipH="false" flipV="false" rot="0">
              <a:off x="0" y="0"/>
              <a:ext cx="942400" cy="1785307"/>
            </a:xfrm>
            <a:custGeom>
              <a:avLst/>
              <a:gdLst/>
              <a:ahLst/>
              <a:cxnLst/>
              <a:rect r="r" b="b" t="t" l="l"/>
              <a:pathLst>
                <a:path h="1785307" w="942400">
                  <a:moveTo>
                    <a:pt x="10818" y="0"/>
                  </a:moveTo>
                  <a:lnTo>
                    <a:pt x="931582" y="0"/>
                  </a:lnTo>
                  <a:cubicBezTo>
                    <a:pt x="937556" y="0"/>
                    <a:pt x="942400" y="4843"/>
                    <a:pt x="942400" y="10818"/>
                  </a:cubicBezTo>
                  <a:lnTo>
                    <a:pt x="942400" y="1774489"/>
                  </a:lnTo>
                  <a:cubicBezTo>
                    <a:pt x="942400" y="1777358"/>
                    <a:pt x="941260" y="1780110"/>
                    <a:pt x="939231" y="1782139"/>
                  </a:cubicBezTo>
                  <a:cubicBezTo>
                    <a:pt x="937202" y="1784167"/>
                    <a:pt x="934451" y="1785307"/>
                    <a:pt x="931582" y="1785307"/>
                  </a:cubicBezTo>
                  <a:lnTo>
                    <a:pt x="10818" y="1785307"/>
                  </a:lnTo>
                  <a:cubicBezTo>
                    <a:pt x="4843" y="1785307"/>
                    <a:pt x="0" y="1780464"/>
                    <a:pt x="0" y="1774489"/>
                  </a:cubicBezTo>
                  <a:lnTo>
                    <a:pt x="0" y="10818"/>
                  </a:lnTo>
                  <a:cubicBezTo>
                    <a:pt x="0" y="4843"/>
                    <a:pt x="4843" y="0"/>
                    <a:pt x="10818" y="0"/>
                  </a:cubicBezTo>
                  <a:close/>
                </a:path>
              </a:pathLst>
            </a:custGeom>
            <a:solidFill>
              <a:srgbClr val="FFFFFF"/>
            </a:solidFill>
          </p:spPr>
        </p:sp>
        <p:sp>
          <p:nvSpPr>
            <p:cNvPr name="TextBox 29" id="29"/>
            <p:cNvSpPr txBox="true"/>
            <p:nvPr/>
          </p:nvSpPr>
          <p:spPr>
            <a:xfrm>
              <a:off x="0" y="-38100"/>
              <a:ext cx="942400" cy="1823407"/>
            </a:xfrm>
            <a:prstGeom prst="rect">
              <a:avLst/>
            </a:prstGeom>
          </p:spPr>
          <p:txBody>
            <a:bodyPr anchor="ctr" rtlCol="false" tIns="50800" lIns="50800" bIns="50800" rIns="50800"/>
            <a:lstStyle/>
            <a:p>
              <a:pPr algn="ctr">
                <a:lnSpc>
                  <a:spcPts val="2660"/>
                </a:lnSpc>
              </a:pPr>
            </a:p>
          </p:txBody>
        </p:sp>
      </p:grpSp>
      <p:sp>
        <p:nvSpPr>
          <p:cNvPr name="Freeform 30" id="30"/>
          <p:cNvSpPr/>
          <p:nvPr/>
        </p:nvSpPr>
        <p:spPr>
          <a:xfrm flipH="false" flipV="false" rot="0">
            <a:off x="12842572" y="5514371"/>
            <a:ext cx="242810" cy="182108"/>
          </a:xfrm>
          <a:custGeom>
            <a:avLst/>
            <a:gdLst/>
            <a:ahLst/>
            <a:cxnLst/>
            <a:rect r="r" b="b" t="t" l="l"/>
            <a:pathLst>
              <a:path h="182108" w="242810">
                <a:moveTo>
                  <a:pt x="0" y="0"/>
                </a:moveTo>
                <a:lnTo>
                  <a:pt x="242810" y="0"/>
                </a:lnTo>
                <a:lnTo>
                  <a:pt x="242810" y="182107"/>
                </a:lnTo>
                <a:lnTo>
                  <a:pt x="0" y="1821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1" id="31"/>
          <p:cNvGrpSpPr/>
          <p:nvPr/>
        </p:nvGrpSpPr>
        <p:grpSpPr>
          <a:xfrm rot="0">
            <a:off x="12220957" y="2252748"/>
            <a:ext cx="3578175" cy="1759637"/>
            <a:chOff x="0" y="0"/>
            <a:chExt cx="942400" cy="463444"/>
          </a:xfrm>
        </p:grpSpPr>
        <p:sp>
          <p:nvSpPr>
            <p:cNvPr name="Freeform 32" id="32"/>
            <p:cNvSpPr/>
            <p:nvPr/>
          </p:nvSpPr>
          <p:spPr>
            <a:xfrm flipH="false" flipV="false" rot="0">
              <a:off x="0" y="0"/>
              <a:ext cx="942400" cy="463444"/>
            </a:xfrm>
            <a:custGeom>
              <a:avLst/>
              <a:gdLst/>
              <a:ahLst/>
              <a:cxnLst/>
              <a:rect r="r" b="b" t="t" l="l"/>
              <a:pathLst>
                <a:path h="463444" w="942400">
                  <a:moveTo>
                    <a:pt x="32455" y="0"/>
                  </a:moveTo>
                  <a:lnTo>
                    <a:pt x="909945" y="0"/>
                  </a:lnTo>
                  <a:cubicBezTo>
                    <a:pt x="927869" y="0"/>
                    <a:pt x="942400" y="14530"/>
                    <a:pt x="942400" y="32455"/>
                  </a:cubicBezTo>
                  <a:lnTo>
                    <a:pt x="942400" y="430989"/>
                  </a:lnTo>
                  <a:cubicBezTo>
                    <a:pt x="942400" y="448913"/>
                    <a:pt x="927869" y="463444"/>
                    <a:pt x="909945" y="463444"/>
                  </a:cubicBezTo>
                  <a:lnTo>
                    <a:pt x="32455" y="463444"/>
                  </a:lnTo>
                  <a:cubicBezTo>
                    <a:pt x="14530" y="463444"/>
                    <a:pt x="0" y="448913"/>
                    <a:pt x="0" y="430989"/>
                  </a:cubicBezTo>
                  <a:lnTo>
                    <a:pt x="0" y="32455"/>
                  </a:lnTo>
                  <a:cubicBezTo>
                    <a:pt x="0" y="14530"/>
                    <a:pt x="14530" y="0"/>
                    <a:pt x="32455" y="0"/>
                  </a:cubicBezTo>
                  <a:close/>
                </a:path>
              </a:pathLst>
            </a:custGeom>
            <a:solidFill>
              <a:srgbClr val="040606"/>
            </a:solidFill>
          </p:spPr>
        </p:sp>
        <p:sp>
          <p:nvSpPr>
            <p:cNvPr name="TextBox 33" id="33"/>
            <p:cNvSpPr txBox="true"/>
            <p:nvPr/>
          </p:nvSpPr>
          <p:spPr>
            <a:xfrm>
              <a:off x="0" y="-38100"/>
              <a:ext cx="942400" cy="501544"/>
            </a:xfrm>
            <a:prstGeom prst="rect">
              <a:avLst/>
            </a:prstGeom>
          </p:spPr>
          <p:txBody>
            <a:bodyPr anchor="ctr" rtlCol="false" tIns="50800" lIns="50800" bIns="50800" rIns="50800"/>
            <a:lstStyle/>
            <a:p>
              <a:pPr algn="ctr">
                <a:lnSpc>
                  <a:spcPts val="2660"/>
                </a:lnSpc>
              </a:pPr>
            </a:p>
          </p:txBody>
        </p:sp>
      </p:grpSp>
      <p:sp>
        <p:nvSpPr>
          <p:cNvPr name="Freeform 34" id="34"/>
          <p:cNvSpPr/>
          <p:nvPr/>
        </p:nvSpPr>
        <p:spPr>
          <a:xfrm flipH="false" flipV="false" rot="0">
            <a:off x="13887585" y="2432379"/>
            <a:ext cx="244920" cy="244920"/>
          </a:xfrm>
          <a:custGeom>
            <a:avLst/>
            <a:gdLst/>
            <a:ahLst/>
            <a:cxnLst/>
            <a:rect r="r" b="b" t="t" l="l"/>
            <a:pathLst>
              <a:path h="244920" w="244920">
                <a:moveTo>
                  <a:pt x="0" y="0"/>
                </a:moveTo>
                <a:lnTo>
                  <a:pt x="244919" y="0"/>
                </a:lnTo>
                <a:lnTo>
                  <a:pt x="244919" y="244920"/>
                </a:lnTo>
                <a:lnTo>
                  <a:pt x="0" y="244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5" id="35"/>
          <p:cNvGrpSpPr/>
          <p:nvPr/>
        </p:nvGrpSpPr>
        <p:grpSpPr>
          <a:xfrm rot="0">
            <a:off x="12220957" y="3662418"/>
            <a:ext cx="3578175" cy="535227"/>
            <a:chOff x="0" y="0"/>
            <a:chExt cx="942400" cy="140965"/>
          </a:xfrm>
        </p:grpSpPr>
        <p:sp>
          <p:nvSpPr>
            <p:cNvPr name="Freeform 36" id="36"/>
            <p:cNvSpPr/>
            <p:nvPr/>
          </p:nvSpPr>
          <p:spPr>
            <a:xfrm flipH="false" flipV="false" rot="0">
              <a:off x="0" y="0"/>
              <a:ext cx="942400" cy="140965"/>
            </a:xfrm>
            <a:custGeom>
              <a:avLst/>
              <a:gdLst/>
              <a:ahLst/>
              <a:cxnLst/>
              <a:rect r="r" b="b" t="t" l="l"/>
              <a:pathLst>
                <a:path h="140965" w="942400">
                  <a:moveTo>
                    <a:pt x="0" y="0"/>
                  </a:moveTo>
                  <a:lnTo>
                    <a:pt x="942400" y="0"/>
                  </a:lnTo>
                  <a:lnTo>
                    <a:pt x="942400" y="140965"/>
                  </a:lnTo>
                  <a:lnTo>
                    <a:pt x="0" y="140965"/>
                  </a:lnTo>
                  <a:close/>
                </a:path>
              </a:pathLst>
            </a:custGeom>
            <a:solidFill>
              <a:srgbClr val="040606"/>
            </a:solidFill>
          </p:spPr>
        </p:sp>
        <p:sp>
          <p:nvSpPr>
            <p:cNvPr name="TextBox 37" id="37"/>
            <p:cNvSpPr txBox="true"/>
            <p:nvPr/>
          </p:nvSpPr>
          <p:spPr>
            <a:xfrm>
              <a:off x="0" y="-38100"/>
              <a:ext cx="942400" cy="179065"/>
            </a:xfrm>
            <a:prstGeom prst="rect">
              <a:avLst/>
            </a:prstGeom>
          </p:spPr>
          <p:txBody>
            <a:bodyPr anchor="ctr" rtlCol="false" tIns="50800" lIns="50800" bIns="50800" rIns="50800"/>
            <a:lstStyle/>
            <a:p>
              <a:pPr algn="ctr">
                <a:lnSpc>
                  <a:spcPts val="2660"/>
                </a:lnSpc>
              </a:pPr>
            </a:p>
          </p:txBody>
        </p:sp>
      </p:grpSp>
      <p:grpSp>
        <p:nvGrpSpPr>
          <p:cNvPr name="Group 38" id="38"/>
          <p:cNvGrpSpPr/>
          <p:nvPr/>
        </p:nvGrpSpPr>
        <p:grpSpPr>
          <a:xfrm rot="0">
            <a:off x="12963977" y="8445710"/>
            <a:ext cx="2092135" cy="388847"/>
            <a:chOff x="0" y="0"/>
            <a:chExt cx="551015" cy="102412"/>
          </a:xfrm>
        </p:grpSpPr>
        <p:sp>
          <p:nvSpPr>
            <p:cNvPr name="Freeform 39" id="39"/>
            <p:cNvSpPr/>
            <p:nvPr/>
          </p:nvSpPr>
          <p:spPr>
            <a:xfrm flipH="false" flipV="false" rot="0">
              <a:off x="0" y="0"/>
              <a:ext cx="551015" cy="102412"/>
            </a:xfrm>
            <a:custGeom>
              <a:avLst/>
              <a:gdLst/>
              <a:ahLst/>
              <a:cxnLst/>
              <a:rect r="r" b="b" t="t" l="l"/>
              <a:pathLst>
                <a:path h="102412" w="551015">
                  <a:moveTo>
                    <a:pt x="18502" y="0"/>
                  </a:moveTo>
                  <a:lnTo>
                    <a:pt x="532513" y="0"/>
                  </a:lnTo>
                  <a:cubicBezTo>
                    <a:pt x="537420" y="0"/>
                    <a:pt x="542126" y="1949"/>
                    <a:pt x="545596" y="5419"/>
                  </a:cubicBezTo>
                  <a:cubicBezTo>
                    <a:pt x="549066" y="8889"/>
                    <a:pt x="551015" y="13595"/>
                    <a:pt x="551015" y="18502"/>
                  </a:cubicBezTo>
                  <a:lnTo>
                    <a:pt x="551015" y="83910"/>
                  </a:lnTo>
                  <a:cubicBezTo>
                    <a:pt x="551015" y="94129"/>
                    <a:pt x="542731" y="102412"/>
                    <a:pt x="532513" y="102412"/>
                  </a:cubicBezTo>
                  <a:lnTo>
                    <a:pt x="18502" y="102412"/>
                  </a:lnTo>
                  <a:cubicBezTo>
                    <a:pt x="13595" y="102412"/>
                    <a:pt x="8889" y="100463"/>
                    <a:pt x="5419" y="96993"/>
                  </a:cubicBezTo>
                  <a:cubicBezTo>
                    <a:pt x="1949" y="93523"/>
                    <a:pt x="0" y="88817"/>
                    <a:pt x="0" y="83910"/>
                  </a:cubicBezTo>
                  <a:lnTo>
                    <a:pt x="0" y="18502"/>
                  </a:lnTo>
                  <a:cubicBezTo>
                    <a:pt x="0" y="8284"/>
                    <a:pt x="8284" y="0"/>
                    <a:pt x="18502" y="0"/>
                  </a:cubicBezTo>
                  <a:close/>
                </a:path>
              </a:pathLst>
            </a:custGeom>
            <a:solidFill>
              <a:srgbClr val="EBE2D6"/>
            </a:solidFill>
          </p:spPr>
        </p:sp>
        <p:sp>
          <p:nvSpPr>
            <p:cNvPr name="TextBox 40" id="40"/>
            <p:cNvSpPr txBox="true"/>
            <p:nvPr/>
          </p:nvSpPr>
          <p:spPr>
            <a:xfrm>
              <a:off x="0" y="-38100"/>
              <a:ext cx="551015" cy="140512"/>
            </a:xfrm>
            <a:prstGeom prst="rect">
              <a:avLst/>
            </a:prstGeom>
          </p:spPr>
          <p:txBody>
            <a:bodyPr anchor="ctr" rtlCol="false" tIns="50800" lIns="50800" bIns="50800" rIns="50800"/>
            <a:lstStyle/>
            <a:p>
              <a:pPr algn="ctr">
                <a:lnSpc>
                  <a:spcPts val="2660"/>
                </a:lnSpc>
              </a:pPr>
            </a:p>
          </p:txBody>
        </p:sp>
      </p:grpSp>
      <p:sp>
        <p:nvSpPr>
          <p:cNvPr name="TextBox 41" id="41"/>
          <p:cNvSpPr txBox="true"/>
          <p:nvPr/>
        </p:nvSpPr>
        <p:spPr>
          <a:xfrm rot="0">
            <a:off x="12595962" y="3005567"/>
            <a:ext cx="2822202" cy="1218932"/>
          </a:xfrm>
          <a:prstGeom prst="rect">
            <a:avLst/>
          </a:prstGeom>
        </p:spPr>
        <p:txBody>
          <a:bodyPr anchor="t" rtlCol="false" tIns="0" lIns="0" bIns="0" rIns="0">
            <a:spAutoFit/>
          </a:bodyPr>
          <a:lstStyle/>
          <a:p>
            <a:pPr algn="ctr">
              <a:lnSpc>
                <a:spcPts val="4739"/>
              </a:lnSpc>
            </a:pPr>
            <a:r>
              <a:rPr lang="en-US" b="true" sz="3385">
                <a:solidFill>
                  <a:srgbClr val="FFFFFF"/>
                </a:solidFill>
                <a:latin typeface="Poppins Bold"/>
                <a:ea typeface="Poppins Bold"/>
                <a:cs typeface="Poppins Bold"/>
                <a:sym typeface="Poppins Bold"/>
              </a:rPr>
              <a:t>VISITEUR</a:t>
            </a:r>
          </a:p>
          <a:p>
            <a:pPr algn="ctr">
              <a:lnSpc>
                <a:spcPts val="4739"/>
              </a:lnSpc>
            </a:pPr>
          </a:p>
        </p:txBody>
      </p:sp>
      <p:sp>
        <p:nvSpPr>
          <p:cNvPr name="Freeform 42" id="42"/>
          <p:cNvSpPr/>
          <p:nvPr/>
        </p:nvSpPr>
        <p:spPr>
          <a:xfrm flipH="false" flipV="false" rot="5400000">
            <a:off x="5915690" y="4201589"/>
            <a:ext cx="6456619" cy="3798774"/>
          </a:xfrm>
          <a:custGeom>
            <a:avLst/>
            <a:gdLst/>
            <a:ahLst/>
            <a:cxnLst/>
            <a:rect r="r" b="b" t="t" l="l"/>
            <a:pathLst>
              <a:path h="3798774" w="6456619">
                <a:moveTo>
                  <a:pt x="0" y="0"/>
                </a:moveTo>
                <a:lnTo>
                  <a:pt x="6456620" y="0"/>
                </a:lnTo>
                <a:lnTo>
                  <a:pt x="6456620" y="3798774"/>
                </a:lnTo>
                <a:lnTo>
                  <a:pt x="0" y="3798774"/>
                </a:lnTo>
                <a:lnTo>
                  <a:pt x="0" y="0"/>
                </a:lnTo>
                <a:close/>
              </a:path>
            </a:pathLst>
          </a:custGeom>
          <a:blipFill>
            <a:blip r:embed="rId2"/>
            <a:stretch>
              <a:fillRect l="0" t="0" r="0" b="0"/>
            </a:stretch>
          </a:blipFill>
        </p:spPr>
      </p:sp>
      <p:sp>
        <p:nvSpPr>
          <p:cNvPr name="Freeform 43" id="43"/>
          <p:cNvSpPr/>
          <p:nvPr/>
        </p:nvSpPr>
        <p:spPr>
          <a:xfrm flipH="false" flipV="false" rot="0">
            <a:off x="8122854" y="5540023"/>
            <a:ext cx="242810" cy="182108"/>
          </a:xfrm>
          <a:custGeom>
            <a:avLst/>
            <a:gdLst/>
            <a:ahLst/>
            <a:cxnLst/>
            <a:rect r="r" b="b" t="t" l="l"/>
            <a:pathLst>
              <a:path h="182108" w="242810">
                <a:moveTo>
                  <a:pt x="0" y="0"/>
                </a:moveTo>
                <a:lnTo>
                  <a:pt x="242810" y="0"/>
                </a:lnTo>
                <a:lnTo>
                  <a:pt x="242810" y="182108"/>
                </a:lnTo>
                <a:lnTo>
                  <a:pt x="0" y="1821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4" id="44"/>
          <p:cNvGrpSpPr/>
          <p:nvPr/>
        </p:nvGrpSpPr>
        <p:grpSpPr>
          <a:xfrm rot="0">
            <a:off x="7354913" y="2252748"/>
            <a:ext cx="3578175" cy="1759637"/>
            <a:chOff x="0" y="0"/>
            <a:chExt cx="942400" cy="463444"/>
          </a:xfrm>
        </p:grpSpPr>
        <p:sp>
          <p:nvSpPr>
            <p:cNvPr name="Freeform 45" id="45"/>
            <p:cNvSpPr/>
            <p:nvPr/>
          </p:nvSpPr>
          <p:spPr>
            <a:xfrm flipH="false" flipV="false" rot="0">
              <a:off x="0" y="0"/>
              <a:ext cx="942400" cy="463444"/>
            </a:xfrm>
            <a:custGeom>
              <a:avLst/>
              <a:gdLst/>
              <a:ahLst/>
              <a:cxnLst/>
              <a:rect r="r" b="b" t="t" l="l"/>
              <a:pathLst>
                <a:path h="463444" w="942400">
                  <a:moveTo>
                    <a:pt x="32455" y="0"/>
                  </a:moveTo>
                  <a:lnTo>
                    <a:pt x="909945" y="0"/>
                  </a:lnTo>
                  <a:cubicBezTo>
                    <a:pt x="927869" y="0"/>
                    <a:pt x="942400" y="14530"/>
                    <a:pt x="942400" y="32455"/>
                  </a:cubicBezTo>
                  <a:lnTo>
                    <a:pt x="942400" y="430989"/>
                  </a:lnTo>
                  <a:cubicBezTo>
                    <a:pt x="942400" y="448913"/>
                    <a:pt x="927869" y="463444"/>
                    <a:pt x="909945" y="463444"/>
                  </a:cubicBezTo>
                  <a:lnTo>
                    <a:pt x="32455" y="463444"/>
                  </a:lnTo>
                  <a:cubicBezTo>
                    <a:pt x="14530" y="463444"/>
                    <a:pt x="0" y="448913"/>
                    <a:pt x="0" y="430989"/>
                  </a:cubicBezTo>
                  <a:lnTo>
                    <a:pt x="0" y="32455"/>
                  </a:lnTo>
                  <a:cubicBezTo>
                    <a:pt x="0" y="14530"/>
                    <a:pt x="14530" y="0"/>
                    <a:pt x="32455" y="0"/>
                  </a:cubicBezTo>
                  <a:close/>
                </a:path>
              </a:pathLst>
            </a:custGeom>
            <a:solidFill>
              <a:srgbClr val="040606"/>
            </a:solidFill>
          </p:spPr>
        </p:sp>
        <p:sp>
          <p:nvSpPr>
            <p:cNvPr name="TextBox 46" id="46"/>
            <p:cNvSpPr txBox="true"/>
            <p:nvPr/>
          </p:nvSpPr>
          <p:spPr>
            <a:xfrm>
              <a:off x="0" y="-38100"/>
              <a:ext cx="942400" cy="501544"/>
            </a:xfrm>
            <a:prstGeom prst="rect">
              <a:avLst/>
            </a:prstGeom>
          </p:spPr>
          <p:txBody>
            <a:bodyPr anchor="ctr" rtlCol="false" tIns="50800" lIns="50800" bIns="50800" rIns="50800"/>
            <a:lstStyle/>
            <a:p>
              <a:pPr algn="ctr">
                <a:lnSpc>
                  <a:spcPts val="2660"/>
                </a:lnSpc>
              </a:pPr>
            </a:p>
          </p:txBody>
        </p:sp>
      </p:grpSp>
      <p:sp>
        <p:nvSpPr>
          <p:cNvPr name="Freeform 47" id="47"/>
          <p:cNvSpPr/>
          <p:nvPr/>
        </p:nvSpPr>
        <p:spPr>
          <a:xfrm flipH="false" flipV="false" rot="0">
            <a:off x="9021540" y="2432379"/>
            <a:ext cx="244920" cy="244920"/>
          </a:xfrm>
          <a:custGeom>
            <a:avLst/>
            <a:gdLst/>
            <a:ahLst/>
            <a:cxnLst/>
            <a:rect r="r" b="b" t="t" l="l"/>
            <a:pathLst>
              <a:path h="244920" w="244920">
                <a:moveTo>
                  <a:pt x="0" y="0"/>
                </a:moveTo>
                <a:lnTo>
                  <a:pt x="244920" y="0"/>
                </a:lnTo>
                <a:lnTo>
                  <a:pt x="244920" y="244920"/>
                </a:lnTo>
                <a:lnTo>
                  <a:pt x="0" y="244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8" id="48"/>
          <p:cNvGrpSpPr/>
          <p:nvPr/>
        </p:nvGrpSpPr>
        <p:grpSpPr>
          <a:xfrm rot="0">
            <a:off x="7354913" y="3662418"/>
            <a:ext cx="3578175" cy="535227"/>
            <a:chOff x="0" y="0"/>
            <a:chExt cx="942400" cy="140965"/>
          </a:xfrm>
        </p:grpSpPr>
        <p:sp>
          <p:nvSpPr>
            <p:cNvPr name="Freeform 49" id="49"/>
            <p:cNvSpPr/>
            <p:nvPr/>
          </p:nvSpPr>
          <p:spPr>
            <a:xfrm flipH="false" flipV="false" rot="0">
              <a:off x="0" y="0"/>
              <a:ext cx="942400" cy="140965"/>
            </a:xfrm>
            <a:custGeom>
              <a:avLst/>
              <a:gdLst/>
              <a:ahLst/>
              <a:cxnLst/>
              <a:rect r="r" b="b" t="t" l="l"/>
              <a:pathLst>
                <a:path h="140965" w="942400">
                  <a:moveTo>
                    <a:pt x="0" y="0"/>
                  </a:moveTo>
                  <a:lnTo>
                    <a:pt x="942400" y="0"/>
                  </a:lnTo>
                  <a:lnTo>
                    <a:pt x="942400" y="140965"/>
                  </a:lnTo>
                  <a:lnTo>
                    <a:pt x="0" y="140965"/>
                  </a:lnTo>
                  <a:close/>
                </a:path>
              </a:pathLst>
            </a:custGeom>
            <a:solidFill>
              <a:srgbClr val="040606"/>
            </a:solidFill>
          </p:spPr>
        </p:sp>
        <p:sp>
          <p:nvSpPr>
            <p:cNvPr name="TextBox 50" id="50"/>
            <p:cNvSpPr txBox="true"/>
            <p:nvPr/>
          </p:nvSpPr>
          <p:spPr>
            <a:xfrm>
              <a:off x="0" y="-38100"/>
              <a:ext cx="942400" cy="179065"/>
            </a:xfrm>
            <a:prstGeom prst="rect">
              <a:avLst/>
            </a:prstGeom>
          </p:spPr>
          <p:txBody>
            <a:bodyPr anchor="ctr" rtlCol="false" tIns="50800" lIns="50800" bIns="50800" rIns="50800"/>
            <a:lstStyle/>
            <a:p>
              <a:pPr algn="ctr">
                <a:lnSpc>
                  <a:spcPts val="2660"/>
                </a:lnSpc>
              </a:pPr>
            </a:p>
          </p:txBody>
        </p:sp>
      </p:grpSp>
      <p:grpSp>
        <p:nvGrpSpPr>
          <p:cNvPr name="Group 51" id="51"/>
          <p:cNvGrpSpPr/>
          <p:nvPr/>
        </p:nvGrpSpPr>
        <p:grpSpPr>
          <a:xfrm rot="0">
            <a:off x="8097932" y="8445710"/>
            <a:ext cx="2092135" cy="388847"/>
            <a:chOff x="0" y="0"/>
            <a:chExt cx="551015" cy="102412"/>
          </a:xfrm>
        </p:grpSpPr>
        <p:sp>
          <p:nvSpPr>
            <p:cNvPr name="Freeform 52" id="52"/>
            <p:cNvSpPr/>
            <p:nvPr/>
          </p:nvSpPr>
          <p:spPr>
            <a:xfrm flipH="false" flipV="false" rot="0">
              <a:off x="0" y="0"/>
              <a:ext cx="551015" cy="102412"/>
            </a:xfrm>
            <a:custGeom>
              <a:avLst/>
              <a:gdLst/>
              <a:ahLst/>
              <a:cxnLst/>
              <a:rect r="r" b="b" t="t" l="l"/>
              <a:pathLst>
                <a:path h="102412" w="551015">
                  <a:moveTo>
                    <a:pt x="18502" y="0"/>
                  </a:moveTo>
                  <a:lnTo>
                    <a:pt x="532513" y="0"/>
                  </a:lnTo>
                  <a:cubicBezTo>
                    <a:pt x="537420" y="0"/>
                    <a:pt x="542126" y="1949"/>
                    <a:pt x="545596" y="5419"/>
                  </a:cubicBezTo>
                  <a:cubicBezTo>
                    <a:pt x="549066" y="8889"/>
                    <a:pt x="551015" y="13595"/>
                    <a:pt x="551015" y="18502"/>
                  </a:cubicBezTo>
                  <a:lnTo>
                    <a:pt x="551015" y="83910"/>
                  </a:lnTo>
                  <a:cubicBezTo>
                    <a:pt x="551015" y="94129"/>
                    <a:pt x="542731" y="102412"/>
                    <a:pt x="532513" y="102412"/>
                  </a:cubicBezTo>
                  <a:lnTo>
                    <a:pt x="18502" y="102412"/>
                  </a:lnTo>
                  <a:cubicBezTo>
                    <a:pt x="13595" y="102412"/>
                    <a:pt x="8889" y="100463"/>
                    <a:pt x="5419" y="96993"/>
                  </a:cubicBezTo>
                  <a:cubicBezTo>
                    <a:pt x="1949" y="93523"/>
                    <a:pt x="0" y="88817"/>
                    <a:pt x="0" y="83910"/>
                  </a:cubicBezTo>
                  <a:lnTo>
                    <a:pt x="0" y="18502"/>
                  </a:lnTo>
                  <a:cubicBezTo>
                    <a:pt x="0" y="8284"/>
                    <a:pt x="8284" y="0"/>
                    <a:pt x="18502" y="0"/>
                  </a:cubicBezTo>
                  <a:close/>
                </a:path>
              </a:pathLst>
            </a:custGeom>
            <a:solidFill>
              <a:srgbClr val="EBE2D6"/>
            </a:solidFill>
          </p:spPr>
        </p:sp>
        <p:sp>
          <p:nvSpPr>
            <p:cNvPr name="TextBox 53" id="53"/>
            <p:cNvSpPr txBox="true"/>
            <p:nvPr/>
          </p:nvSpPr>
          <p:spPr>
            <a:xfrm>
              <a:off x="0" y="-38100"/>
              <a:ext cx="551015" cy="140512"/>
            </a:xfrm>
            <a:prstGeom prst="rect">
              <a:avLst/>
            </a:prstGeom>
          </p:spPr>
          <p:txBody>
            <a:bodyPr anchor="ctr" rtlCol="false" tIns="50800" lIns="50800" bIns="50800" rIns="50800"/>
            <a:lstStyle/>
            <a:p>
              <a:pPr algn="ctr">
                <a:lnSpc>
                  <a:spcPts val="2660"/>
                </a:lnSpc>
              </a:pPr>
            </a:p>
          </p:txBody>
        </p:sp>
      </p:grpSp>
      <p:sp>
        <p:nvSpPr>
          <p:cNvPr name="TextBox 54" id="54"/>
          <p:cNvSpPr txBox="true"/>
          <p:nvPr/>
        </p:nvSpPr>
        <p:spPr>
          <a:xfrm rot="0">
            <a:off x="8443003" y="5432640"/>
            <a:ext cx="2222128" cy="1553844"/>
          </a:xfrm>
          <a:prstGeom prst="rect">
            <a:avLst/>
          </a:prstGeom>
        </p:spPr>
        <p:txBody>
          <a:bodyPr anchor="t" rtlCol="false" tIns="0" lIns="0" bIns="0" rIns="0">
            <a:spAutoFit/>
          </a:bodyPr>
          <a:lstStyle/>
          <a:p>
            <a:pPr algn="l">
              <a:lnSpc>
                <a:spcPts val="3080"/>
              </a:lnSpc>
            </a:pPr>
            <a:r>
              <a:rPr lang="en-US" sz="2200">
                <a:solidFill>
                  <a:srgbClr val="000000"/>
                </a:solidFill>
                <a:latin typeface="Lato"/>
                <a:ea typeface="Lato"/>
                <a:cs typeface="Lato"/>
                <a:sym typeface="Lato"/>
              </a:rPr>
              <a:t>Accès à distant avec </a:t>
            </a:r>
          </a:p>
          <a:p>
            <a:pPr algn="l">
              <a:lnSpc>
                <a:spcPts val="3080"/>
              </a:lnSpc>
            </a:pPr>
            <a:r>
              <a:rPr lang="en-US" sz="2200">
                <a:solidFill>
                  <a:srgbClr val="000000"/>
                </a:solidFill>
                <a:latin typeface="Lato"/>
                <a:ea typeface="Lato"/>
                <a:cs typeface="Lato"/>
                <a:sym typeface="Lato"/>
              </a:rPr>
              <a:t>application</a:t>
            </a:r>
          </a:p>
          <a:p>
            <a:pPr algn="l">
              <a:lnSpc>
                <a:spcPts val="3080"/>
              </a:lnSpc>
            </a:pPr>
          </a:p>
        </p:txBody>
      </p:sp>
      <p:sp>
        <p:nvSpPr>
          <p:cNvPr name="TextBox 55" id="55"/>
          <p:cNvSpPr txBox="true"/>
          <p:nvPr/>
        </p:nvSpPr>
        <p:spPr>
          <a:xfrm rot="0">
            <a:off x="7732899" y="2978713"/>
            <a:ext cx="2822202" cy="1218932"/>
          </a:xfrm>
          <a:prstGeom prst="rect">
            <a:avLst/>
          </a:prstGeom>
        </p:spPr>
        <p:txBody>
          <a:bodyPr anchor="t" rtlCol="false" tIns="0" lIns="0" bIns="0" rIns="0">
            <a:spAutoFit/>
          </a:bodyPr>
          <a:lstStyle/>
          <a:p>
            <a:pPr algn="ctr">
              <a:lnSpc>
                <a:spcPts val="4739"/>
              </a:lnSpc>
            </a:pPr>
            <a:r>
              <a:rPr lang="en-US" b="true" sz="3385">
                <a:solidFill>
                  <a:srgbClr val="FFFFFF"/>
                </a:solidFill>
                <a:latin typeface="Poppins Bold"/>
                <a:ea typeface="Poppins Bold"/>
                <a:cs typeface="Poppins Bold"/>
                <a:sym typeface="Poppins Bold"/>
              </a:rPr>
              <a:t>RÉSIDENT</a:t>
            </a:r>
          </a:p>
          <a:p>
            <a:pPr algn="ctr">
              <a:lnSpc>
                <a:spcPts val="4739"/>
              </a:lnSpc>
            </a:pPr>
          </a:p>
        </p:txBody>
      </p:sp>
      <p:sp>
        <p:nvSpPr>
          <p:cNvPr name="TextBox 56" id="56"/>
          <p:cNvSpPr txBox="true"/>
          <p:nvPr/>
        </p:nvSpPr>
        <p:spPr>
          <a:xfrm rot="0">
            <a:off x="5613977" y="696676"/>
            <a:ext cx="7060045" cy="2308547"/>
          </a:xfrm>
          <a:prstGeom prst="rect">
            <a:avLst/>
          </a:prstGeom>
        </p:spPr>
        <p:txBody>
          <a:bodyPr anchor="t" rtlCol="false" tIns="0" lIns="0" bIns="0" rIns="0">
            <a:spAutoFit/>
          </a:bodyPr>
          <a:lstStyle/>
          <a:p>
            <a:pPr algn="ctr">
              <a:lnSpc>
                <a:spcPts val="9257"/>
              </a:lnSpc>
            </a:pPr>
            <a:r>
              <a:rPr lang="en-US" b="true" sz="6612" spc="-218">
                <a:solidFill>
                  <a:srgbClr val="000000"/>
                </a:solidFill>
                <a:latin typeface="Roboto Bold"/>
                <a:ea typeface="Roboto Bold"/>
                <a:cs typeface="Roboto Bold"/>
                <a:sym typeface="Roboto Bold"/>
              </a:rPr>
              <a:t>ACTEURS</a:t>
            </a:r>
          </a:p>
          <a:p>
            <a:pPr algn="ctr">
              <a:lnSpc>
                <a:spcPts val="9257"/>
              </a:lnSpc>
            </a:pPr>
          </a:p>
        </p:txBody>
      </p:sp>
      <p:grpSp>
        <p:nvGrpSpPr>
          <p:cNvPr name="Group 57" id="57"/>
          <p:cNvGrpSpPr/>
          <p:nvPr/>
        </p:nvGrpSpPr>
        <p:grpSpPr>
          <a:xfrm rot="0">
            <a:off x="17349683" y="9345065"/>
            <a:ext cx="423967" cy="427585"/>
            <a:chOff x="0" y="0"/>
            <a:chExt cx="205716" cy="207472"/>
          </a:xfrm>
        </p:grpSpPr>
        <p:sp>
          <p:nvSpPr>
            <p:cNvPr name="Freeform 58" id="58"/>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59" id="59"/>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8</a:t>
              </a:r>
            </a:p>
          </p:txBody>
        </p:sp>
      </p:grpSp>
      <p:sp>
        <p:nvSpPr>
          <p:cNvPr name="TextBox 60" id="60"/>
          <p:cNvSpPr txBox="true"/>
          <p:nvPr/>
        </p:nvSpPr>
        <p:spPr>
          <a:xfrm rot="0">
            <a:off x="3256809" y="6715248"/>
            <a:ext cx="2540004" cy="1844852"/>
          </a:xfrm>
          <a:prstGeom prst="rect">
            <a:avLst/>
          </a:prstGeom>
        </p:spPr>
        <p:txBody>
          <a:bodyPr anchor="t" rtlCol="false" tIns="0" lIns="0" bIns="0" rIns="0">
            <a:spAutoFit/>
          </a:bodyPr>
          <a:lstStyle/>
          <a:p>
            <a:pPr algn="l">
              <a:lnSpc>
                <a:spcPts val="2940"/>
              </a:lnSpc>
            </a:pPr>
            <a:r>
              <a:rPr lang="en-US" sz="2100">
                <a:solidFill>
                  <a:srgbClr val="000000"/>
                </a:solidFill>
                <a:latin typeface="Lato"/>
                <a:ea typeface="Lato"/>
                <a:cs typeface="Lato"/>
                <a:sym typeface="Lato"/>
              </a:rPr>
              <a:t>Accès a distant avec </a:t>
            </a:r>
          </a:p>
          <a:p>
            <a:pPr algn="l">
              <a:lnSpc>
                <a:spcPts val="2940"/>
              </a:lnSpc>
            </a:pPr>
            <a:r>
              <a:rPr lang="en-US" sz="2100">
                <a:solidFill>
                  <a:srgbClr val="000000"/>
                </a:solidFill>
                <a:latin typeface="Lato"/>
                <a:ea typeface="Lato"/>
                <a:cs typeface="Lato"/>
                <a:sym typeface="Lato"/>
              </a:rPr>
              <a:t>application et par code via </a:t>
            </a:r>
          </a:p>
          <a:p>
            <a:pPr algn="l">
              <a:lnSpc>
                <a:spcPts val="2940"/>
              </a:lnSpc>
            </a:pPr>
            <a:r>
              <a:rPr lang="en-US" sz="2100">
                <a:solidFill>
                  <a:srgbClr val="000000"/>
                </a:solidFill>
                <a:latin typeface="Lato"/>
                <a:ea typeface="Lato"/>
                <a:cs typeface="Lato"/>
                <a:sym typeface="Lato"/>
              </a:rPr>
              <a:t>le keypad</a:t>
            </a:r>
          </a:p>
          <a:p>
            <a:pPr algn="l">
              <a:lnSpc>
                <a:spcPts val="2940"/>
              </a:lnSpc>
            </a:pPr>
          </a:p>
        </p:txBody>
      </p:sp>
      <p:grpSp>
        <p:nvGrpSpPr>
          <p:cNvPr name="Group 61" id="61"/>
          <p:cNvGrpSpPr/>
          <p:nvPr/>
        </p:nvGrpSpPr>
        <p:grpSpPr>
          <a:xfrm rot="0">
            <a:off x="3228428" y="8551530"/>
            <a:ext cx="2092135" cy="388847"/>
            <a:chOff x="0" y="0"/>
            <a:chExt cx="551015" cy="102412"/>
          </a:xfrm>
        </p:grpSpPr>
        <p:sp>
          <p:nvSpPr>
            <p:cNvPr name="Freeform 62" id="62"/>
            <p:cNvSpPr/>
            <p:nvPr/>
          </p:nvSpPr>
          <p:spPr>
            <a:xfrm flipH="false" flipV="false" rot="0">
              <a:off x="0" y="0"/>
              <a:ext cx="551015" cy="102412"/>
            </a:xfrm>
            <a:custGeom>
              <a:avLst/>
              <a:gdLst/>
              <a:ahLst/>
              <a:cxnLst/>
              <a:rect r="r" b="b" t="t" l="l"/>
              <a:pathLst>
                <a:path h="102412" w="551015">
                  <a:moveTo>
                    <a:pt x="18502" y="0"/>
                  </a:moveTo>
                  <a:lnTo>
                    <a:pt x="532513" y="0"/>
                  </a:lnTo>
                  <a:cubicBezTo>
                    <a:pt x="537420" y="0"/>
                    <a:pt x="542126" y="1949"/>
                    <a:pt x="545596" y="5419"/>
                  </a:cubicBezTo>
                  <a:cubicBezTo>
                    <a:pt x="549066" y="8889"/>
                    <a:pt x="551015" y="13595"/>
                    <a:pt x="551015" y="18502"/>
                  </a:cubicBezTo>
                  <a:lnTo>
                    <a:pt x="551015" y="83910"/>
                  </a:lnTo>
                  <a:cubicBezTo>
                    <a:pt x="551015" y="94129"/>
                    <a:pt x="542731" y="102412"/>
                    <a:pt x="532513" y="102412"/>
                  </a:cubicBezTo>
                  <a:lnTo>
                    <a:pt x="18502" y="102412"/>
                  </a:lnTo>
                  <a:cubicBezTo>
                    <a:pt x="13595" y="102412"/>
                    <a:pt x="8889" y="100463"/>
                    <a:pt x="5419" y="96993"/>
                  </a:cubicBezTo>
                  <a:cubicBezTo>
                    <a:pt x="1949" y="93523"/>
                    <a:pt x="0" y="88817"/>
                    <a:pt x="0" y="83910"/>
                  </a:cubicBezTo>
                  <a:lnTo>
                    <a:pt x="0" y="18502"/>
                  </a:lnTo>
                  <a:cubicBezTo>
                    <a:pt x="0" y="8284"/>
                    <a:pt x="8284" y="0"/>
                    <a:pt x="18502" y="0"/>
                  </a:cubicBezTo>
                  <a:close/>
                </a:path>
              </a:pathLst>
            </a:custGeom>
            <a:solidFill>
              <a:srgbClr val="EBE2D6"/>
            </a:solidFill>
          </p:spPr>
        </p:sp>
        <p:sp>
          <p:nvSpPr>
            <p:cNvPr name="TextBox 63" id="63"/>
            <p:cNvSpPr txBox="true"/>
            <p:nvPr/>
          </p:nvSpPr>
          <p:spPr>
            <a:xfrm>
              <a:off x="0" y="-38100"/>
              <a:ext cx="551015" cy="140512"/>
            </a:xfrm>
            <a:prstGeom prst="rect">
              <a:avLst/>
            </a:prstGeom>
          </p:spPr>
          <p:txBody>
            <a:bodyPr anchor="ctr" rtlCol="false" tIns="50800" lIns="50800" bIns="50800" rIns="50800"/>
            <a:lstStyle/>
            <a:p>
              <a:pPr algn="ctr">
                <a:lnSpc>
                  <a:spcPts val="2660"/>
                </a:lnSpc>
              </a:pPr>
            </a:p>
          </p:txBody>
        </p:sp>
      </p:grpSp>
      <p:sp>
        <p:nvSpPr>
          <p:cNvPr name="TextBox 64" id="64"/>
          <p:cNvSpPr txBox="true"/>
          <p:nvPr/>
        </p:nvSpPr>
        <p:spPr>
          <a:xfrm rot="0">
            <a:off x="13228257" y="5427172"/>
            <a:ext cx="2222128" cy="1553844"/>
          </a:xfrm>
          <a:prstGeom prst="rect">
            <a:avLst/>
          </a:prstGeom>
        </p:spPr>
        <p:txBody>
          <a:bodyPr anchor="t" rtlCol="false" tIns="0" lIns="0" bIns="0" rIns="0">
            <a:spAutoFit/>
          </a:bodyPr>
          <a:lstStyle/>
          <a:p>
            <a:pPr algn="l">
              <a:lnSpc>
                <a:spcPts val="3080"/>
              </a:lnSpc>
            </a:pPr>
            <a:r>
              <a:rPr lang="en-US" sz="2200">
                <a:solidFill>
                  <a:srgbClr val="000000"/>
                </a:solidFill>
                <a:latin typeface="Lato"/>
                <a:ea typeface="Lato"/>
                <a:cs typeface="Lato"/>
                <a:sym typeface="Lato"/>
              </a:rPr>
              <a:t>Demande l’accès depuis </a:t>
            </a:r>
          </a:p>
          <a:p>
            <a:pPr algn="l">
              <a:lnSpc>
                <a:spcPts val="3080"/>
              </a:lnSpc>
            </a:pPr>
            <a:r>
              <a:rPr lang="en-US" sz="2200">
                <a:solidFill>
                  <a:srgbClr val="000000"/>
                </a:solidFill>
                <a:latin typeface="Lato"/>
                <a:ea typeface="Lato"/>
                <a:cs typeface="Lato"/>
                <a:sym typeface="Lato"/>
              </a:rPr>
              <a:t>L’administrateur</a:t>
            </a:r>
          </a:p>
          <a:p>
            <a:pPr algn="l">
              <a:lnSpc>
                <a:spcPts val="308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429631"/>
            <a:ext cx="18288000" cy="1857369"/>
            <a:chOff x="0" y="0"/>
            <a:chExt cx="5501942" cy="558789"/>
          </a:xfrm>
        </p:grpSpPr>
        <p:sp>
          <p:nvSpPr>
            <p:cNvPr name="Freeform 3" id="3"/>
            <p:cNvSpPr/>
            <p:nvPr/>
          </p:nvSpPr>
          <p:spPr>
            <a:xfrm flipH="false" flipV="false" rot="0">
              <a:off x="0" y="0"/>
              <a:ext cx="5501942" cy="558789"/>
            </a:xfrm>
            <a:custGeom>
              <a:avLst/>
              <a:gdLst/>
              <a:ahLst/>
              <a:cxnLst/>
              <a:rect r="r" b="b" t="t" l="l"/>
              <a:pathLst>
                <a:path h="558789" w="5501942">
                  <a:moveTo>
                    <a:pt x="0" y="0"/>
                  </a:moveTo>
                  <a:lnTo>
                    <a:pt x="5501942" y="0"/>
                  </a:lnTo>
                  <a:lnTo>
                    <a:pt x="5501942" y="558789"/>
                  </a:lnTo>
                  <a:lnTo>
                    <a:pt x="0" y="558789"/>
                  </a:lnTo>
                  <a:close/>
                </a:path>
              </a:pathLst>
            </a:custGeom>
            <a:solidFill>
              <a:srgbClr val="EBE2D6"/>
            </a:solidFill>
          </p:spPr>
        </p:sp>
        <p:sp>
          <p:nvSpPr>
            <p:cNvPr name="TextBox 4" id="4"/>
            <p:cNvSpPr txBox="true"/>
            <p:nvPr/>
          </p:nvSpPr>
          <p:spPr>
            <a:xfrm>
              <a:off x="0" y="-38100"/>
              <a:ext cx="5501942" cy="59688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349683" y="9345065"/>
            <a:ext cx="423967" cy="427585"/>
            <a:chOff x="0" y="0"/>
            <a:chExt cx="205716" cy="207472"/>
          </a:xfrm>
        </p:grpSpPr>
        <p:sp>
          <p:nvSpPr>
            <p:cNvPr name="Freeform 6" id="6"/>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7" id="7"/>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9</a:t>
              </a:r>
            </a:p>
          </p:txBody>
        </p:sp>
      </p:grpSp>
      <p:sp>
        <p:nvSpPr>
          <p:cNvPr name="Freeform 8" id="8"/>
          <p:cNvSpPr/>
          <p:nvPr/>
        </p:nvSpPr>
        <p:spPr>
          <a:xfrm flipH="false" flipV="false" rot="0">
            <a:off x="2272083" y="2090281"/>
            <a:ext cx="13743834" cy="7964204"/>
          </a:xfrm>
          <a:custGeom>
            <a:avLst/>
            <a:gdLst/>
            <a:ahLst/>
            <a:cxnLst/>
            <a:rect r="r" b="b" t="t" l="l"/>
            <a:pathLst>
              <a:path h="7964204" w="13743834">
                <a:moveTo>
                  <a:pt x="0" y="0"/>
                </a:moveTo>
                <a:lnTo>
                  <a:pt x="13743834" y="0"/>
                </a:lnTo>
                <a:lnTo>
                  <a:pt x="13743834" y="7964205"/>
                </a:lnTo>
                <a:lnTo>
                  <a:pt x="0" y="7964205"/>
                </a:lnTo>
                <a:lnTo>
                  <a:pt x="0" y="0"/>
                </a:lnTo>
                <a:close/>
              </a:path>
            </a:pathLst>
          </a:custGeom>
          <a:blipFill>
            <a:blip r:embed="rId2"/>
            <a:stretch>
              <a:fillRect l="-1392" t="0" r="-1625" b="0"/>
            </a:stretch>
          </a:blipFill>
        </p:spPr>
      </p:sp>
      <p:sp>
        <p:nvSpPr>
          <p:cNvPr name="Freeform 9" id="9"/>
          <p:cNvSpPr/>
          <p:nvPr/>
        </p:nvSpPr>
        <p:spPr>
          <a:xfrm flipH="false" flipV="false" rot="0">
            <a:off x="12299201" y="8301731"/>
            <a:ext cx="2396915" cy="667553"/>
          </a:xfrm>
          <a:custGeom>
            <a:avLst/>
            <a:gdLst/>
            <a:ahLst/>
            <a:cxnLst/>
            <a:rect r="r" b="b" t="t" l="l"/>
            <a:pathLst>
              <a:path h="667553" w="2396915">
                <a:moveTo>
                  <a:pt x="0" y="0"/>
                </a:moveTo>
                <a:lnTo>
                  <a:pt x="2396916" y="0"/>
                </a:lnTo>
                <a:lnTo>
                  <a:pt x="2396916" y="667553"/>
                </a:lnTo>
                <a:lnTo>
                  <a:pt x="0" y="667553"/>
                </a:lnTo>
                <a:lnTo>
                  <a:pt x="0" y="0"/>
                </a:lnTo>
                <a:close/>
              </a:path>
            </a:pathLst>
          </a:custGeom>
          <a:blipFill>
            <a:blip r:embed="rId3"/>
            <a:stretch>
              <a:fillRect l="0" t="0" r="0" b="-192331"/>
            </a:stretch>
          </a:blipFill>
        </p:spPr>
      </p:sp>
      <p:sp>
        <p:nvSpPr>
          <p:cNvPr name="TextBox 10" id="10"/>
          <p:cNvSpPr txBox="true"/>
          <p:nvPr/>
        </p:nvSpPr>
        <p:spPr>
          <a:xfrm rot="0">
            <a:off x="1028700" y="333673"/>
            <a:ext cx="14298149" cy="2752081"/>
          </a:xfrm>
          <a:prstGeom prst="rect">
            <a:avLst/>
          </a:prstGeom>
        </p:spPr>
        <p:txBody>
          <a:bodyPr anchor="t" rtlCol="false" tIns="0" lIns="0" bIns="0" rIns="0">
            <a:spAutoFit/>
          </a:bodyPr>
          <a:lstStyle/>
          <a:p>
            <a:pPr algn="just">
              <a:lnSpc>
                <a:spcPts val="11060"/>
              </a:lnSpc>
            </a:pPr>
            <a:r>
              <a:rPr lang="en-US" b="true" sz="7900" spc="-197">
                <a:solidFill>
                  <a:srgbClr val="000000"/>
                </a:solidFill>
                <a:latin typeface="Roboto Bold"/>
                <a:ea typeface="Roboto Bold"/>
                <a:cs typeface="Roboto Bold"/>
                <a:sym typeface="Roboto Bold"/>
              </a:rPr>
              <a:t>ARCHITECTURE GÉNÉRALE</a:t>
            </a:r>
          </a:p>
          <a:p>
            <a:pPr algn="just">
              <a:lnSpc>
                <a:spcPts val="1106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429631"/>
            <a:ext cx="18288000" cy="1857369"/>
            <a:chOff x="0" y="0"/>
            <a:chExt cx="5501942" cy="558789"/>
          </a:xfrm>
        </p:grpSpPr>
        <p:sp>
          <p:nvSpPr>
            <p:cNvPr name="Freeform 3" id="3"/>
            <p:cNvSpPr/>
            <p:nvPr/>
          </p:nvSpPr>
          <p:spPr>
            <a:xfrm flipH="false" flipV="false" rot="0">
              <a:off x="0" y="0"/>
              <a:ext cx="5501942" cy="558789"/>
            </a:xfrm>
            <a:custGeom>
              <a:avLst/>
              <a:gdLst/>
              <a:ahLst/>
              <a:cxnLst/>
              <a:rect r="r" b="b" t="t" l="l"/>
              <a:pathLst>
                <a:path h="558789" w="5501942">
                  <a:moveTo>
                    <a:pt x="0" y="0"/>
                  </a:moveTo>
                  <a:lnTo>
                    <a:pt x="5501942" y="0"/>
                  </a:lnTo>
                  <a:lnTo>
                    <a:pt x="5501942" y="558789"/>
                  </a:lnTo>
                  <a:lnTo>
                    <a:pt x="0" y="558789"/>
                  </a:lnTo>
                  <a:close/>
                </a:path>
              </a:pathLst>
            </a:custGeom>
            <a:solidFill>
              <a:srgbClr val="EBE2D6"/>
            </a:solidFill>
          </p:spPr>
        </p:sp>
        <p:sp>
          <p:nvSpPr>
            <p:cNvPr name="TextBox 4" id="4"/>
            <p:cNvSpPr txBox="true"/>
            <p:nvPr/>
          </p:nvSpPr>
          <p:spPr>
            <a:xfrm>
              <a:off x="0" y="-38100"/>
              <a:ext cx="5501942" cy="59688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349683" y="9345065"/>
            <a:ext cx="423967" cy="427585"/>
            <a:chOff x="0" y="0"/>
            <a:chExt cx="205716" cy="207472"/>
          </a:xfrm>
        </p:grpSpPr>
        <p:sp>
          <p:nvSpPr>
            <p:cNvPr name="Freeform 6" id="6"/>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7" id="7"/>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10</a:t>
              </a:r>
            </a:p>
          </p:txBody>
        </p:sp>
      </p:grpSp>
      <p:sp>
        <p:nvSpPr>
          <p:cNvPr name="Freeform 8" id="8"/>
          <p:cNvSpPr/>
          <p:nvPr/>
        </p:nvSpPr>
        <p:spPr>
          <a:xfrm flipH="false" flipV="false" rot="0">
            <a:off x="2489694" y="2127396"/>
            <a:ext cx="13778561" cy="7754857"/>
          </a:xfrm>
          <a:custGeom>
            <a:avLst/>
            <a:gdLst/>
            <a:ahLst/>
            <a:cxnLst/>
            <a:rect r="r" b="b" t="t" l="l"/>
            <a:pathLst>
              <a:path h="7754857" w="13778561">
                <a:moveTo>
                  <a:pt x="0" y="0"/>
                </a:moveTo>
                <a:lnTo>
                  <a:pt x="13778561" y="0"/>
                </a:lnTo>
                <a:lnTo>
                  <a:pt x="13778561" y="7754857"/>
                </a:lnTo>
                <a:lnTo>
                  <a:pt x="0" y="7754857"/>
                </a:lnTo>
                <a:lnTo>
                  <a:pt x="0" y="0"/>
                </a:lnTo>
                <a:close/>
              </a:path>
            </a:pathLst>
          </a:custGeom>
          <a:blipFill>
            <a:blip r:embed="rId2"/>
            <a:stretch>
              <a:fillRect l="0" t="0" r="0" b="0"/>
            </a:stretch>
          </a:blipFill>
        </p:spPr>
      </p:sp>
      <p:sp>
        <p:nvSpPr>
          <p:cNvPr name="Freeform 9" id="9"/>
          <p:cNvSpPr/>
          <p:nvPr/>
        </p:nvSpPr>
        <p:spPr>
          <a:xfrm flipH="false" flipV="false" rot="0">
            <a:off x="11344092" y="3484664"/>
            <a:ext cx="4365440" cy="802040"/>
          </a:xfrm>
          <a:custGeom>
            <a:avLst/>
            <a:gdLst/>
            <a:ahLst/>
            <a:cxnLst/>
            <a:rect r="r" b="b" t="t" l="l"/>
            <a:pathLst>
              <a:path h="802040" w="4365440">
                <a:moveTo>
                  <a:pt x="0" y="0"/>
                </a:moveTo>
                <a:lnTo>
                  <a:pt x="4365440" y="0"/>
                </a:lnTo>
                <a:lnTo>
                  <a:pt x="4365440" y="802040"/>
                </a:lnTo>
                <a:lnTo>
                  <a:pt x="0" y="802040"/>
                </a:lnTo>
                <a:lnTo>
                  <a:pt x="0" y="0"/>
                </a:lnTo>
                <a:close/>
              </a:path>
            </a:pathLst>
          </a:custGeom>
          <a:blipFill>
            <a:blip r:embed="rId3"/>
            <a:stretch>
              <a:fillRect l="0" t="-48871" r="0" b="-294268"/>
            </a:stretch>
          </a:blipFill>
        </p:spPr>
      </p:sp>
      <p:sp>
        <p:nvSpPr>
          <p:cNvPr name="Freeform 10" id="10"/>
          <p:cNvSpPr/>
          <p:nvPr/>
        </p:nvSpPr>
        <p:spPr>
          <a:xfrm flipH="false" flipV="false" rot="0">
            <a:off x="2698054" y="7633910"/>
            <a:ext cx="4493296" cy="1924947"/>
          </a:xfrm>
          <a:custGeom>
            <a:avLst/>
            <a:gdLst/>
            <a:ahLst/>
            <a:cxnLst/>
            <a:rect r="r" b="b" t="t" l="l"/>
            <a:pathLst>
              <a:path h="1924947" w="4493296">
                <a:moveTo>
                  <a:pt x="0" y="0"/>
                </a:moveTo>
                <a:lnTo>
                  <a:pt x="4493296" y="0"/>
                </a:lnTo>
                <a:lnTo>
                  <a:pt x="4493296" y="1924948"/>
                </a:lnTo>
                <a:lnTo>
                  <a:pt x="0" y="1924948"/>
                </a:lnTo>
                <a:lnTo>
                  <a:pt x="0" y="0"/>
                </a:lnTo>
                <a:close/>
              </a:path>
            </a:pathLst>
          </a:custGeom>
          <a:blipFill>
            <a:blip r:embed="rId3"/>
            <a:stretch>
              <a:fillRect l="0" t="0" r="-25786" b="-139050"/>
            </a:stretch>
          </a:blipFill>
        </p:spPr>
      </p:sp>
      <p:sp>
        <p:nvSpPr>
          <p:cNvPr name="TextBox 11" id="11"/>
          <p:cNvSpPr txBox="true"/>
          <p:nvPr/>
        </p:nvSpPr>
        <p:spPr>
          <a:xfrm rot="0">
            <a:off x="1028700" y="333673"/>
            <a:ext cx="14298149" cy="2752081"/>
          </a:xfrm>
          <a:prstGeom prst="rect">
            <a:avLst/>
          </a:prstGeom>
        </p:spPr>
        <p:txBody>
          <a:bodyPr anchor="t" rtlCol="false" tIns="0" lIns="0" bIns="0" rIns="0">
            <a:spAutoFit/>
          </a:bodyPr>
          <a:lstStyle/>
          <a:p>
            <a:pPr algn="just">
              <a:lnSpc>
                <a:spcPts val="11060"/>
              </a:lnSpc>
            </a:pPr>
            <a:r>
              <a:rPr lang="en-US" b="true" sz="7900" spc="-197">
                <a:solidFill>
                  <a:srgbClr val="000000"/>
                </a:solidFill>
                <a:latin typeface="Roboto Bold"/>
                <a:ea typeface="Roboto Bold"/>
                <a:cs typeface="Roboto Bold"/>
                <a:sym typeface="Roboto Bold"/>
              </a:rPr>
              <a:t>ARCHITECTURE GÉNÉRALE</a:t>
            </a:r>
          </a:p>
          <a:p>
            <a:pPr algn="just">
              <a:lnSpc>
                <a:spcPts val="1106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86370" y="485384"/>
            <a:ext cx="8287280" cy="9287266"/>
            <a:chOff x="0" y="0"/>
            <a:chExt cx="1283916" cy="1438841"/>
          </a:xfrm>
        </p:grpSpPr>
        <p:sp>
          <p:nvSpPr>
            <p:cNvPr name="Freeform 3" id="3"/>
            <p:cNvSpPr/>
            <p:nvPr/>
          </p:nvSpPr>
          <p:spPr>
            <a:xfrm flipH="false" flipV="false" rot="0">
              <a:off x="0" y="0"/>
              <a:ext cx="1283916" cy="1438841"/>
            </a:xfrm>
            <a:custGeom>
              <a:avLst/>
              <a:gdLst/>
              <a:ahLst/>
              <a:cxnLst/>
              <a:rect r="r" b="b" t="t" l="l"/>
              <a:pathLst>
                <a:path h="1438841" w="1283916">
                  <a:moveTo>
                    <a:pt x="4671" y="0"/>
                  </a:moveTo>
                  <a:lnTo>
                    <a:pt x="1279246" y="0"/>
                  </a:lnTo>
                  <a:cubicBezTo>
                    <a:pt x="1280484" y="0"/>
                    <a:pt x="1281672" y="492"/>
                    <a:pt x="1282548" y="1368"/>
                  </a:cubicBezTo>
                  <a:cubicBezTo>
                    <a:pt x="1283424" y="2244"/>
                    <a:pt x="1283916" y="3432"/>
                    <a:pt x="1283916" y="4671"/>
                  </a:cubicBezTo>
                  <a:lnTo>
                    <a:pt x="1283916" y="1434170"/>
                  </a:lnTo>
                  <a:cubicBezTo>
                    <a:pt x="1283916" y="1435408"/>
                    <a:pt x="1283424" y="1436597"/>
                    <a:pt x="1282548" y="1437472"/>
                  </a:cubicBezTo>
                  <a:cubicBezTo>
                    <a:pt x="1281672" y="1438348"/>
                    <a:pt x="1280484" y="1438841"/>
                    <a:pt x="1279246" y="1438841"/>
                  </a:cubicBezTo>
                  <a:lnTo>
                    <a:pt x="4671" y="1438841"/>
                  </a:lnTo>
                  <a:cubicBezTo>
                    <a:pt x="2091" y="1438841"/>
                    <a:pt x="0" y="1436749"/>
                    <a:pt x="0" y="1434170"/>
                  </a:cubicBezTo>
                  <a:lnTo>
                    <a:pt x="0" y="4671"/>
                  </a:lnTo>
                  <a:cubicBezTo>
                    <a:pt x="0" y="2091"/>
                    <a:pt x="2091" y="0"/>
                    <a:pt x="4671" y="0"/>
                  </a:cubicBezTo>
                  <a:close/>
                </a:path>
              </a:pathLst>
            </a:custGeom>
            <a:blipFill>
              <a:blip r:embed="rId2"/>
              <a:stretch>
                <a:fillRect l="-30047" t="0" r="-30047" b="0"/>
              </a:stretch>
            </a:blipFill>
          </p:spPr>
        </p:sp>
      </p:grpSp>
      <p:grpSp>
        <p:nvGrpSpPr>
          <p:cNvPr name="Group 4" id="4"/>
          <p:cNvGrpSpPr/>
          <p:nvPr/>
        </p:nvGrpSpPr>
        <p:grpSpPr>
          <a:xfrm rot="0">
            <a:off x="646731" y="1197561"/>
            <a:ext cx="8497269" cy="4722162"/>
            <a:chOff x="0" y="0"/>
            <a:chExt cx="2237964" cy="1243697"/>
          </a:xfrm>
        </p:grpSpPr>
        <p:sp>
          <p:nvSpPr>
            <p:cNvPr name="Freeform 5" id="5"/>
            <p:cNvSpPr/>
            <p:nvPr/>
          </p:nvSpPr>
          <p:spPr>
            <a:xfrm flipH="false" flipV="false" rot="0">
              <a:off x="0" y="0"/>
              <a:ext cx="2237964" cy="1243697"/>
            </a:xfrm>
            <a:custGeom>
              <a:avLst/>
              <a:gdLst/>
              <a:ahLst/>
              <a:cxnLst/>
              <a:rect r="r" b="b" t="t" l="l"/>
              <a:pathLst>
                <a:path h="1243697" w="2237964">
                  <a:moveTo>
                    <a:pt x="4556" y="0"/>
                  </a:moveTo>
                  <a:lnTo>
                    <a:pt x="2233408" y="0"/>
                  </a:lnTo>
                  <a:cubicBezTo>
                    <a:pt x="2234617" y="0"/>
                    <a:pt x="2235775" y="480"/>
                    <a:pt x="2236630" y="1334"/>
                  </a:cubicBezTo>
                  <a:cubicBezTo>
                    <a:pt x="2237484" y="2189"/>
                    <a:pt x="2237964" y="3347"/>
                    <a:pt x="2237964" y="4556"/>
                  </a:cubicBezTo>
                  <a:lnTo>
                    <a:pt x="2237964" y="1239141"/>
                  </a:lnTo>
                  <a:cubicBezTo>
                    <a:pt x="2237964" y="1241657"/>
                    <a:pt x="2235924" y="1243697"/>
                    <a:pt x="2233408" y="1243697"/>
                  </a:cubicBezTo>
                  <a:lnTo>
                    <a:pt x="4556" y="1243697"/>
                  </a:lnTo>
                  <a:cubicBezTo>
                    <a:pt x="3347" y="1243697"/>
                    <a:pt x="2189" y="1243217"/>
                    <a:pt x="1334" y="1242363"/>
                  </a:cubicBezTo>
                  <a:cubicBezTo>
                    <a:pt x="480" y="1241508"/>
                    <a:pt x="0" y="1240350"/>
                    <a:pt x="0" y="1239141"/>
                  </a:cubicBezTo>
                  <a:lnTo>
                    <a:pt x="0" y="4556"/>
                  </a:lnTo>
                  <a:cubicBezTo>
                    <a:pt x="0" y="3347"/>
                    <a:pt x="480" y="2189"/>
                    <a:pt x="1334" y="1334"/>
                  </a:cubicBezTo>
                  <a:cubicBezTo>
                    <a:pt x="2189" y="480"/>
                    <a:pt x="3347" y="0"/>
                    <a:pt x="4556" y="0"/>
                  </a:cubicBezTo>
                  <a:close/>
                </a:path>
              </a:pathLst>
            </a:custGeom>
            <a:solidFill>
              <a:srgbClr val="EBE2D6"/>
            </a:solidFill>
          </p:spPr>
        </p:sp>
        <p:sp>
          <p:nvSpPr>
            <p:cNvPr name="TextBox 6" id="6"/>
            <p:cNvSpPr txBox="true"/>
            <p:nvPr/>
          </p:nvSpPr>
          <p:spPr>
            <a:xfrm>
              <a:off x="0" y="-38100"/>
              <a:ext cx="2237964" cy="1281797"/>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349683" y="9345065"/>
            <a:ext cx="423967" cy="427585"/>
            <a:chOff x="0" y="0"/>
            <a:chExt cx="205716" cy="207472"/>
          </a:xfrm>
        </p:grpSpPr>
        <p:sp>
          <p:nvSpPr>
            <p:cNvPr name="Freeform 8" id="8"/>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9" id="9"/>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11</a:t>
              </a:r>
            </a:p>
          </p:txBody>
        </p:sp>
      </p:grpSp>
      <p:sp>
        <p:nvSpPr>
          <p:cNvPr name="TextBox 10" id="10"/>
          <p:cNvSpPr txBox="true"/>
          <p:nvPr/>
        </p:nvSpPr>
        <p:spPr>
          <a:xfrm rot="0">
            <a:off x="1028700" y="6930682"/>
            <a:ext cx="4997355" cy="211137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Lato"/>
                <a:ea typeface="Lato"/>
                <a:cs typeface="Lato"/>
                <a:sym typeface="Lato"/>
              </a:rPr>
              <a:t>Raspberry Pi 3 B+ (supporte le WiFi).</a:t>
            </a:r>
          </a:p>
          <a:p>
            <a:pPr algn="l" marL="431801" indent="-215900" lvl="1">
              <a:lnSpc>
                <a:spcPts val="2800"/>
              </a:lnSpc>
              <a:buFont typeface="Arial"/>
              <a:buChar char="•"/>
            </a:pPr>
            <a:r>
              <a:rPr lang="en-US" sz="2000">
                <a:solidFill>
                  <a:srgbClr val="000000"/>
                </a:solidFill>
                <a:latin typeface="Lato"/>
                <a:ea typeface="Lato"/>
                <a:cs typeface="Lato"/>
                <a:sym typeface="Lato"/>
              </a:rPr>
              <a:t>LED</a:t>
            </a:r>
          </a:p>
          <a:p>
            <a:pPr algn="l" marL="431801" indent="-215900" lvl="1">
              <a:lnSpc>
                <a:spcPts val="2800"/>
              </a:lnSpc>
              <a:buFont typeface="Arial"/>
              <a:buChar char="•"/>
            </a:pPr>
            <a:r>
              <a:rPr lang="en-US" sz="2000">
                <a:solidFill>
                  <a:srgbClr val="000000"/>
                </a:solidFill>
                <a:latin typeface="Lato"/>
                <a:ea typeface="Lato"/>
                <a:cs typeface="Lato"/>
                <a:sym typeface="Lato"/>
              </a:rPr>
              <a:t>téléphone</a:t>
            </a:r>
          </a:p>
          <a:p>
            <a:pPr algn="l" marL="431801" indent="-215900" lvl="1">
              <a:lnSpc>
                <a:spcPts val="2800"/>
              </a:lnSpc>
              <a:buFont typeface="Arial"/>
              <a:buChar char="•"/>
            </a:pPr>
            <a:r>
              <a:rPr lang="en-US" sz="2000">
                <a:solidFill>
                  <a:srgbClr val="000000"/>
                </a:solidFill>
                <a:latin typeface="Lato"/>
                <a:ea typeface="Lato"/>
                <a:cs typeface="Lato"/>
                <a:sym typeface="Lato"/>
              </a:rPr>
              <a:t>carte mémoire</a:t>
            </a:r>
          </a:p>
          <a:p>
            <a:pPr algn="l" marL="431801" indent="-215900" lvl="1">
              <a:lnSpc>
                <a:spcPts val="2800"/>
              </a:lnSpc>
              <a:buFont typeface="Arial"/>
              <a:buChar char="•"/>
            </a:pPr>
            <a:r>
              <a:rPr lang="en-US" sz="2000">
                <a:solidFill>
                  <a:srgbClr val="000000"/>
                </a:solidFill>
                <a:latin typeface="Lato"/>
                <a:ea typeface="Lato"/>
                <a:cs typeface="Lato"/>
                <a:sym typeface="Lato"/>
              </a:rPr>
              <a:t>cable</a:t>
            </a:r>
          </a:p>
          <a:p>
            <a:pPr algn="l">
              <a:lnSpc>
                <a:spcPts val="2800"/>
              </a:lnSpc>
            </a:pPr>
          </a:p>
        </p:txBody>
      </p:sp>
      <p:sp>
        <p:nvSpPr>
          <p:cNvPr name="TextBox 11" id="11"/>
          <p:cNvSpPr txBox="true"/>
          <p:nvPr/>
        </p:nvSpPr>
        <p:spPr>
          <a:xfrm rot="0">
            <a:off x="1028700" y="2241882"/>
            <a:ext cx="8457670" cy="2763205"/>
          </a:xfrm>
          <a:prstGeom prst="rect">
            <a:avLst/>
          </a:prstGeom>
        </p:spPr>
        <p:txBody>
          <a:bodyPr anchor="t" rtlCol="false" tIns="0" lIns="0" bIns="0" rIns="0">
            <a:spAutoFit/>
          </a:bodyPr>
          <a:lstStyle/>
          <a:p>
            <a:pPr algn="l">
              <a:lnSpc>
                <a:spcPts val="8399"/>
              </a:lnSpc>
            </a:pPr>
            <a:r>
              <a:rPr lang="en-US" sz="5999" spc="-77" b="true">
                <a:solidFill>
                  <a:srgbClr val="000000"/>
                </a:solidFill>
                <a:latin typeface="Roboto Bold"/>
                <a:ea typeface="Roboto Bold"/>
                <a:cs typeface="Roboto Bold"/>
                <a:sym typeface="Roboto Bold"/>
              </a:rPr>
              <a:t>BESIONS MATÉRIELS </a:t>
            </a:r>
          </a:p>
          <a:p>
            <a:pPr algn="l">
              <a:lnSpc>
                <a:spcPts val="8399"/>
              </a:lnSpc>
            </a:pPr>
            <a:r>
              <a:rPr lang="en-US" sz="5999" spc="-77" b="true">
                <a:solidFill>
                  <a:srgbClr val="000000"/>
                </a:solidFill>
                <a:latin typeface="Roboto Bold"/>
                <a:ea typeface="Roboto Bold"/>
                <a:cs typeface="Roboto Bold"/>
                <a:sym typeface="Roboto Bold"/>
              </a:rPr>
              <a:t>ET MONTAGE</a:t>
            </a:r>
          </a:p>
          <a:p>
            <a:pPr algn="l">
              <a:lnSpc>
                <a:spcPts val="514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522315" y="0"/>
            <a:ext cx="4765685" cy="4722147"/>
            <a:chOff x="0" y="0"/>
            <a:chExt cx="1433756" cy="1420657"/>
          </a:xfrm>
        </p:grpSpPr>
        <p:sp>
          <p:nvSpPr>
            <p:cNvPr name="Freeform 3" id="3"/>
            <p:cNvSpPr/>
            <p:nvPr/>
          </p:nvSpPr>
          <p:spPr>
            <a:xfrm flipH="false" flipV="false" rot="0">
              <a:off x="0" y="0"/>
              <a:ext cx="1433756" cy="1420657"/>
            </a:xfrm>
            <a:custGeom>
              <a:avLst/>
              <a:gdLst/>
              <a:ahLst/>
              <a:cxnLst/>
              <a:rect r="r" b="b" t="t" l="l"/>
              <a:pathLst>
                <a:path h="1420657" w="1433756">
                  <a:moveTo>
                    <a:pt x="0" y="0"/>
                  </a:moveTo>
                  <a:lnTo>
                    <a:pt x="1433756" y="0"/>
                  </a:lnTo>
                  <a:lnTo>
                    <a:pt x="1433756" y="1420657"/>
                  </a:lnTo>
                  <a:lnTo>
                    <a:pt x="0" y="1420657"/>
                  </a:lnTo>
                  <a:close/>
                </a:path>
              </a:pathLst>
            </a:custGeom>
            <a:solidFill>
              <a:srgbClr val="202020"/>
            </a:solidFill>
          </p:spPr>
        </p:sp>
        <p:sp>
          <p:nvSpPr>
            <p:cNvPr name="TextBox 4" id="4"/>
            <p:cNvSpPr txBox="true"/>
            <p:nvPr/>
          </p:nvSpPr>
          <p:spPr>
            <a:xfrm>
              <a:off x="0" y="-38100"/>
              <a:ext cx="1433756" cy="145875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888453" y="1028700"/>
            <a:ext cx="12370847" cy="8743950"/>
            <a:chOff x="0" y="0"/>
            <a:chExt cx="4233113" cy="2992045"/>
          </a:xfrm>
        </p:grpSpPr>
        <p:sp>
          <p:nvSpPr>
            <p:cNvPr name="Freeform 6" id="6"/>
            <p:cNvSpPr/>
            <p:nvPr/>
          </p:nvSpPr>
          <p:spPr>
            <a:xfrm flipH="false" flipV="false" rot="0">
              <a:off x="0" y="0"/>
              <a:ext cx="4233113" cy="2992045"/>
            </a:xfrm>
            <a:custGeom>
              <a:avLst/>
              <a:gdLst/>
              <a:ahLst/>
              <a:cxnLst/>
              <a:rect r="r" b="b" t="t" l="l"/>
              <a:pathLst>
                <a:path h="2992045" w="4233113">
                  <a:moveTo>
                    <a:pt x="3129" y="0"/>
                  </a:moveTo>
                  <a:lnTo>
                    <a:pt x="4229984" y="0"/>
                  </a:lnTo>
                  <a:cubicBezTo>
                    <a:pt x="4231712" y="0"/>
                    <a:pt x="4233113" y="1401"/>
                    <a:pt x="4233113" y="3129"/>
                  </a:cubicBezTo>
                  <a:lnTo>
                    <a:pt x="4233113" y="2988916"/>
                  </a:lnTo>
                  <a:cubicBezTo>
                    <a:pt x="4233113" y="2989745"/>
                    <a:pt x="4232783" y="2990541"/>
                    <a:pt x="4232196" y="2991128"/>
                  </a:cubicBezTo>
                  <a:cubicBezTo>
                    <a:pt x="4231610" y="2991715"/>
                    <a:pt x="4230814" y="2992045"/>
                    <a:pt x="4229984" y="2992045"/>
                  </a:cubicBezTo>
                  <a:lnTo>
                    <a:pt x="3129" y="2992045"/>
                  </a:lnTo>
                  <a:cubicBezTo>
                    <a:pt x="2299" y="2992045"/>
                    <a:pt x="1503" y="2991715"/>
                    <a:pt x="916" y="2991128"/>
                  </a:cubicBezTo>
                  <a:cubicBezTo>
                    <a:pt x="330" y="2990541"/>
                    <a:pt x="0" y="2989745"/>
                    <a:pt x="0" y="2988916"/>
                  </a:cubicBezTo>
                  <a:lnTo>
                    <a:pt x="0" y="3129"/>
                  </a:lnTo>
                  <a:cubicBezTo>
                    <a:pt x="0" y="2299"/>
                    <a:pt x="330" y="1503"/>
                    <a:pt x="916" y="916"/>
                  </a:cubicBezTo>
                  <a:cubicBezTo>
                    <a:pt x="1503" y="330"/>
                    <a:pt x="2299" y="0"/>
                    <a:pt x="3129" y="0"/>
                  </a:cubicBezTo>
                  <a:close/>
                </a:path>
              </a:pathLst>
            </a:custGeom>
            <a:solidFill>
              <a:srgbClr val="EBE2D6"/>
            </a:solidFill>
          </p:spPr>
        </p:sp>
        <p:sp>
          <p:nvSpPr>
            <p:cNvPr name="TextBox 7" id="7"/>
            <p:cNvSpPr txBox="true"/>
            <p:nvPr/>
          </p:nvSpPr>
          <p:spPr>
            <a:xfrm>
              <a:off x="0" y="-38100"/>
              <a:ext cx="4233113" cy="303014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0" y="3748285"/>
            <a:ext cx="7164958" cy="6538715"/>
            <a:chOff x="0" y="0"/>
            <a:chExt cx="1276610" cy="1165030"/>
          </a:xfrm>
        </p:grpSpPr>
        <p:sp>
          <p:nvSpPr>
            <p:cNvPr name="Freeform 9" id="9"/>
            <p:cNvSpPr/>
            <p:nvPr/>
          </p:nvSpPr>
          <p:spPr>
            <a:xfrm flipH="false" flipV="false" rot="0">
              <a:off x="0" y="0"/>
              <a:ext cx="1276610" cy="1165030"/>
            </a:xfrm>
            <a:custGeom>
              <a:avLst/>
              <a:gdLst/>
              <a:ahLst/>
              <a:cxnLst/>
              <a:rect r="r" b="b" t="t" l="l"/>
              <a:pathLst>
                <a:path h="1165030" w="1276610">
                  <a:moveTo>
                    <a:pt x="5403" y="0"/>
                  </a:moveTo>
                  <a:lnTo>
                    <a:pt x="1271207" y="0"/>
                  </a:lnTo>
                  <a:cubicBezTo>
                    <a:pt x="1272640" y="0"/>
                    <a:pt x="1274014" y="569"/>
                    <a:pt x="1275028" y="1582"/>
                  </a:cubicBezTo>
                  <a:cubicBezTo>
                    <a:pt x="1276041" y="2596"/>
                    <a:pt x="1276610" y="3970"/>
                    <a:pt x="1276610" y="5403"/>
                  </a:cubicBezTo>
                  <a:lnTo>
                    <a:pt x="1276610" y="1159627"/>
                  </a:lnTo>
                  <a:cubicBezTo>
                    <a:pt x="1276610" y="1161060"/>
                    <a:pt x="1276041" y="1162434"/>
                    <a:pt x="1275028" y="1163447"/>
                  </a:cubicBezTo>
                  <a:cubicBezTo>
                    <a:pt x="1274014" y="1164460"/>
                    <a:pt x="1272640" y="1165030"/>
                    <a:pt x="1271207" y="1165030"/>
                  </a:cubicBezTo>
                  <a:lnTo>
                    <a:pt x="5403" y="1165030"/>
                  </a:lnTo>
                  <a:cubicBezTo>
                    <a:pt x="3970" y="1165030"/>
                    <a:pt x="2596" y="1164460"/>
                    <a:pt x="1582" y="1163447"/>
                  </a:cubicBezTo>
                  <a:cubicBezTo>
                    <a:pt x="569" y="1162434"/>
                    <a:pt x="0" y="1161060"/>
                    <a:pt x="0" y="1159627"/>
                  </a:cubicBezTo>
                  <a:lnTo>
                    <a:pt x="0" y="5403"/>
                  </a:lnTo>
                  <a:cubicBezTo>
                    <a:pt x="0" y="3970"/>
                    <a:pt x="569" y="2596"/>
                    <a:pt x="1582" y="1582"/>
                  </a:cubicBezTo>
                  <a:cubicBezTo>
                    <a:pt x="2596" y="569"/>
                    <a:pt x="3970" y="0"/>
                    <a:pt x="5403" y="0"/>
                  </a:cubicBezTo>
                  <a:close/>
                </a:path>
              </a:pathLst>
            </a:custGeom>
            <a:blipFill>
              <a:blip r:embed="rId2"/>
              <a:stretch>
                <a:fillRect l="0" t="-4788" r="0" b="-4788"/>
              </a:stretch>
            </a:blipFill>
          </p:spPr>
        </p:sp>
      </p:grpSp>
      <p:grpSp>
        <p:nvGrpSpPr>
          <p:cNvPr name="Group 10" id="10"/>
          <p:cNvGrpSpPr/>
          <p:nvPr/>
        </p:nvGrpSpPr>
        <p:grpSpPr>
          <a:xfrm rot="0">
            <a:off x="17349683" y="9345065"/>
            <a:ext cx="423967" cy="427585"/>
            <a:chOff x="0" y="0"/>
            <a:chExt cx="205716" cy="207472"/>
          </a:xfrm>
        </p:grpSpPr>
        <p:sp>
          <p:nvSpPr>
            <p:cNvPr name="Freeform 11" id="11"/>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12" id="12"/>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12</a:t>
              </a:r>
            </a:p>
          </p:txBody>
        </p:sp>
      </p:grpSp>
      <p:sp>
        <p:nvSpPr>
          <p:cNvPr name="TextBox 13" id="13"/>
          <p:cNvSpPr txBox="true"/>
          <p:nvPr/>
        </p:nvSpPr>
        <p:spPr>
          <a:xfrm rot="0">
            <a:off x="9839296" y="5076825"/>
            <a:ext cx="5741822" cy="2667983"/>
          </a:xfrm>
          <a:prstGeom prst="rect">
            <a:avLst/>
          </a:prstGeom>
        </p:spPr>
        <p:txBody>
          <a:bodyPr anchor="t" rtlCol="false" tIns="0" lIns="0" bIns="0" rIns="0">
            <a:spAutoFit/>
          </a:bodyPr>
          <a:lstStyle/>
          <a:p>
            <a:pPr algn="r">
              <a:lnSpc>
                <a:spcPts val="4256"/>
              </a:lnSpc>
            </a:pPr>
            <a:r>
              <a:rPr lang="en-US" sz="3040">
                <a:solidFill>
                  <a:srgbClr val="000000"/>
                </a:solidFill>
                <a:latin typeface="Lato"/>
                <a:ea typeface="Lato"/>
                <a:cs typeface="Lato"/>
                <a:sym typeface="Lato"/>
              </a:rPr>
              <a:t>FRAMEWORK : Android Studio (KOTLIN)</a:t>
            </a:r>
          </a:p>
          <a:p>
            <a:pPr algn="r">
              <a:lnSpc>
                <a:spcPts val="4256"/>
              </a:lnSpc>
            </a:pPr>
            <a:r>
              <a:rPr lang="en-US" sz="3040">
                <a:solidFill>
                  <a:srgbClr val="000000"/>
                </a:solidFill>
                <a:latin typeface="Lato"/>
                <a:ea typeface="Lato"/>
                <a:cs typeface="Lato"/>
                <a:sym typeface="Lato"/>
              </a:rPr>
              <a:t>BASE DE DONNÉE ET COMMUNICATION TEMP REÉL</a:t>
            </a:r>
          </a:p>
          <a:p>
            <a:pPr algn="r">
              <a:lnSpc>
                <a:spcPts val="4256"/>
              </a:lnSpc>
            </a:pPr>
          </a:p>
        </p:txBody>
      </p:sp>
      <p:sp>
        <p:nvSpPr>
          <p:cNvPr name="TextBox 14" id="14"/>
          <p:cNvSpPr txBox="true"/>
          <p:nvPr/>
        </p:nvSpPr>
        <p:spPr>
          <a:xfrm rot="0">
            <a:off x="8027798" y="2427749"/>
            <a:ext cx="7553319" cy="2358625"/>
          </a:xfrm>
          <a:prstGeom prst="rect">
            <a:avLst/>
          </a:prstGeom>
        </p:spPr>
        <p:txBody>
          <a:bodyPr anchor="t" rtlCol="false" tIns="0" lIns="0" bIns="0" rIns="0">
            <a:spAutoFit/>
          </a:bodyPr>
          <a:lstStyle/>
          <a:p>
            <a:pPr algn="r">
              <a:lnSpc>
                <a:spcPts val="6102"/>
              </a:lnSpc>
            </a:pPr>
            <a:r>
              <a:rPr lang="en-US" sz="5812" b="true">
                <a:solidFill>
                  <a:srgbClr val="000000"/>
                </a:solidFill>
                <a:latin typeface="Roboto Bold"/>
                <a:ea typeface="Roboto Bold"/>
                <a:cs typeface="Roboto Bold"/>
                <a:sym typeface="Roboto Bold"/>
              </a:rPr>
              <a:t>APPLICATION MOBILE</a:t>
            </a:r>
          </a:p>
          <a:p>
            <a:pPr algn="r">
              <a:lnSpc>
                <a:spcPts val="6102"/>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39822" y="0"/>
            <a:ext cx="8648178" cy="10287000"/>
            <a:chOff x="0" y="0"/>
            <a:chExt cx="759236" cy="903111"/>
          </a:xfrm>
        </p:grpSpPr>
        <p:sp>
          <p:nvSpPr>
            <p:cNvPr name="Freeform 3" id="3"/>
            <p:cNvSpPr/>
            <p:nvPr/>
          </p:nvSpPr>
          <p:spPr>
            <a:xfrm flipH="false" flipV="false" rot="0">
              <a:off x="0" y="0"/>
              <a:ext cx="759237" cy="903111"/>
            </a:xfrm>
            <a:custGeom>
              <a:avLst/>
              <a:gdLst/>
              <a:ahLst/>
              <a:cxnLst/>
              <a:rect r="r" b="b" t="t" l="l"/>
              <a:pathLst>
                <a:path h="903111" w="759237">
                  <a:moveTo>
                    <a:pt x="0" y="0"/>
                  </a:moveTo>
                  <a:lnTo>
                    <a:pt x="759237" y="0"/>
                  </a:lnTo>
                  <a:lnTo>
                    <a:pt x="759237" y="903111"/>
                  </a:lnTo>
                  <a:lnTo>
                    <a:pt x="0" y="903111"/>
                  </a:lnTo>
                  <a:close/>
                </a:path>
              </a:pathLst>
            </a:custGeom>
            <a:blipFill>
              <a:blip r:embed="rId2"/>
              <a:stretch>
                <a:fillRect l="0" t="-35349" r="0" b="-35349"/>
              </a:stretch>
            </a:blipFill>
          </p:spPr>
        </p:sp>
      </p:grpSp>
      <p:grpSp>
        <p:nvGrpSpPr>
          <p:cNvPr name="Group 4" id="4"/>
          <p:cNvGrpSpPr/>
          <p:nvPr/>
        </p:nvGrpSpPr>
        <p:grpSpPr>
          <a:xfrm rot="0">
            <a:off x="0" y="0"/>
            <a:ext cx="2269197" cy="10287000"/>
            <a:chOff x="0" y="0"/>
            <a:chExt cx="597649" cy="2709333"/>
          </a:xfrm>
        </p:grpSpPr>
        <p:sp>
          <p:nvSpPr>
            <p:cNvPr name="Freeform 5" id="5"/>
            <p:cNvSpPr/>
            <p:nvPr/>
          </p:nvSpPr>
          <p:spPr>
            <a:xfrm flipH="false" flipV="false" rot="0">
              <a:off x="0" y="0"/>
              <a:ext cx="597649" cy="2709333"/>
            </a:xfrm>
            <a:custGeom>
              <a:avLst/>
              <a:gdLst/>
              <a:ahLst/>
              <a:cxnLst/>
              <a:rect r="r" b="b" t="t" l="l"/>
              <a:pathLst>
                <a:path h="2709333" w="597649">
                  <a:moveTo>
                    <a:pt x="0" y="0"/>
                  </a:moveTo>
                  <a:lnTo>
                    <a:pt x="597649" y="0"/>
                  </a:lnTo>
                  <a:lnTo>
                    <a:pt x="597649" y="2709333"/>
                  </a:lnTo>
                  <a:lnTo>
                    <a:pt x="0" y="2709333"/>
                  </a:lnTo>
                  <a:close/>
                </a:path>
              </a:pathLst>
            </a:custGeom>
            <a:solidFill>
              <a:srgbClr val="EBE2D6"/>
            </a:solidFill>
          </p:spPr>
        </p:sp>
        <p:sp>
          <p:nvSpPr>
            <p:cNvPr name="TextBox 6" id="6"/>
            <p:cNvSpPr txBox="true"/>
            <p:nvPr/>
          </p:nvSpPr>
          <p:spPr>
            <a:xfrm>
              <a:off x="0" y="-47625"/>
              <a:ext cx="597649" cy="2756958"/>
            </a:xfrm>
            <a:prstGeom prst="rect">
              <a:avLst/>
            </a:prstGeom>
          </p:spPr>
          <p:txBody>
            <a:bodyPr anchor="ctr" rtlCol="false" tIns="50800" lIns="50800" bIns="50800" rIns="50800"/>
            <a:lstStyle/>
            <a:p>
              <a:pPr algn="ctr">
                <a:lnSpc>
                  <a:spcPts val="3360"/>
                </a:lnSpc>
              </a:pPr>
            </a:p>
          </p:txBody>
        </p:sp>
      </p:grpSp>
      <p:grpSp>
        <p:nvGrpSpPr>
          <p:cNvPr name="Group 7" id="7"/>
          <p:cNvGrpSpPr/>
          <p:nvPr/>
        </p:nvGrpSpPr>
        <p:grpSpPr>
          <a:xfrm rot="0">
            <a:off x="470862" y="9595586"/>
            <a:ext cx="423967" cy="427585"/>
            <a:chOff x="0" y="0"/>
            <a:chExt cx="205716" cy="207472"/>
          </a:xfrm>
        </p:grpSpPr>
        <p:sp>
          <p:nvSpPr>
            <p:cNvPr name="Freeform 8" id="8"/>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9" id="9"/>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13</a:t>
              </a:r>
            </a:p>
          </p:txBody>
        </p:sp>
      </p:grpSp>
      <p:sp>
        <p:nvSpPr>
          <p:cNvPr name="TextBox 10" id="10"/>
          <p:cNvSpPr txBox="true"/>
          <p:nvPr/>
        </p:nvSpPr>
        <p:spPr>
          <a:xfrm rot="0">
            <a:off x="3097835" y="4452220"/>
            <a:ext cx="7153843" cy="2460500"/>
          </a:xfrm>
          <a:prstGeom prst="rect">
            <a:avLst/>
          </a:prstGeom>
        </p:spPr>
        <p:txBody>
          <a:bodyPr anchor="t" rtlCol="false" tIns="0" lIns="0" bIns="0" rIns="0">
            <a:spAutoFit/>
          </a:bodyPr>
          <a:lstStyle/>
          <a:p>
            <a:pPr algn="l">
              <a:lnSpc>
                <a:spcPts val="9546"/>
              </a:lnSpc>
            </a:pPr>
            <a:r>
              <a:rPr lang="en-US" sz="8600" spc="-215" b="true">
                <a:solidFill>
                  <a:srgbClr val="000000"/>
                </a:solidFill>
                <a:latin typeface="Roboto Bold"/>
                <a:ea typeface="Roboto Bold"/>
                <a:cs typeface="Roboto Bold"/>
                <a:sym typeface="Roboto Bold"/>
              </a:rPr>
              <a:t>INTERFACE</a:t>
            </a:r>
          </a:p>
          <a:p>
            <a:pPr algn="l">
              <a:lnSpc>
                <a:spcPts val="9546"/>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659496" cy="10287000"/>
            <a:chOff x="0" y="0"/>
            <a:chExt cx="2017316" cy="2709333"/>
          </a:xfrm>
        </p:grpSpPr>
        <p:sp>
          <p:nvSpPr>
            <p:cNvPr name="Freeform 3" id="3"/>
            <p:cNvSpPr/>
            <p:nvPr/>
          </p:nvSpPr>
          <p:spPr>
            <a:xfrm flipH="false" flipV="false" rot="0">
              <a:off x="0" y="0"/>
              <a:ext cx="2017316" cy="2709333"/>
            </a:xfrm>
            <a:custGeom>
              <a:avLst/>
              <a:gdLst/>
              <a:ahLst/>
              <a:cxnLst/>
              <a:rect r="r" b="b" t="t" l="l"/>
              <a:pathLst>
                <a:path h="2709333" w="2017316">
                  <a:moveTo>
                    <a:pt x="0" y="0"/>
                  </a:moveTo>
                  <a:lnTo>
                    <a:pt x="2017316" y="0"/>
                  </a:lnTo>
                  <a:lnTo>
                    <a:pt x="2017316" y="2709333"/>
                  </a:lnTo>
                  <a:lnTo>
                    <a:pt x="0" y="2709333"/>
                  </a:lnTo>
                  <a:close/>
                </a:path>
              </a:pathLst>
            </a:custGeom>
            <a:solidFill>
              <a:srgbClr val="040606"/>
            </a:solidFill>
          </p:spPr>
        </p:sp>
        <p:sp>
          <p:nvSpPr>
            <p:cNvPr name="TextBox 4" id="4"/>
            <p:cNvSpPr txBox="true"/>
            <p:nvPr/>
          </p:nvSpPr>
          <p:spPr>
            <a:xfrm>
              <a:off x="0" y="-47625"/>
              <a:ext cx="2017316" cy="27569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514481" y="1214095"/>
            <a:ext cx="4630534" cy="6813237"/>
            <a:chOff x="0" y="0"/>
            <a:chExt cx="520126" cy="765298"/>
          </a:xfrm>
        </p:grpSpPr>
        <p:sp>
          <p:nvSpPr>
            <p:cNvPr name="Freeform 6" id="6"/>
            <p:cNvSpPr/>
            <p:nvPr/>
          </p:nvSpPr>
          <p:spPr>
            <a:xfrm flipH="false" flipV="false" rot="0">
              <a:off x="0" y="0"/>
              <a:ext cx="520126" cy="765298"/>
            </a:xfrm>
            <a:custGeom>
              <a:avLst/>
              <a:gdLst/>
              <a:ahLst/>
              <a:cxnLst/>
              <a:rect r="r" b="b" t="t" l="l"/>
              <a:pathLst>
                <a:path h="765298" w="520126">
                  <a:moveTo>
                    <a:pt x="0" y="0"/>
                  </a:moveTo>
                  <a:lnTo>
                    <a:pt x="520126" y="0"/>
                  </a:lnTo>
                  <a:lnTo>
                    <a:pt x="520126" y="765298"/>
                  </a:lnTo>
                  <a:lnTo>
                    <a:pt x="0" y="765298"/>
                  </a:lnTo>
                  <a:close/>
                </a:path>
              </a:pathLst>
            </a:custGeom>
            <a:blipFill>
              <a:blip r:embed="rId2"/>
              <a:stretch>
                <a:fillRect l="-60215" t="0" r="-60215" b="0"/>
              </a:stretch>
            </a:blipFill>
          </p:spPr>
        </p:sp>
      </p:grpSp>
      <p:grpSp>
        <p:nvGrpSpPr>
          <p:cNvPr name="Group 7" id="7"/>
          <p:cNvGrpSpPr/>
          <p:nvPr/>
        </p:nvGrpSpPr>
        <p:grpSpPr>
          <a:xfrm rot="0">
            <a:off x="17349683" y="9345065"/>
            <a:ext cx="423967" cy="427585"/>
            <a:chOff x="0" y="0"/>
            <a:chExt cx="205716" cy="207472"/>
          </a:xfrm>
        </p:grpSpPr>
        <p:sp>
          <p:nvSpPr>
            <p:cNvPr name="Freeform 8" id="8"/>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9" id="9"/>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14</a:t>
              </a:r>
            </a:p>
          </p:txBody>
        </p:sp>
      </p:grpSp>
      <p:sp>
        <p:nvSpPr>
          <p:cNvPr name="TextBox 10" id="10"/>
          <p:cNvSpPr txBox="true"/>
          <p:nvPr/>
        </p:nvSpPr>
        <p:spPr>
          <a:xfrm rot="0">
            <a:off x="9144000" y="3525252"/>
            <a:ext cx="7249833" cy="4314189"/>
          </a:xfrm>
          <a:prstGeom prst="rect">
            <a:avLst/>
          </a:prstGeom>
        </p:spPr>
        <p:txBody>
          <a:bodyPr anchor="t" rtlCol="false" tIns="0" lIns="0" bIns="0" rIns="0">
            <a:spAutoFit/>
          </a:bodyPr>
          <a:lstStyle/>
          <a:p>
            <a:pPr algn="l">
              <a:lnSpc>
                <a:spcPts val="2660"/>
              </a:lnSpc>
            </a:pPr>
          </a:p>
          <a:p>
            <a:pPr algn="l">
              <a:lnSpc>
                <a:spcPts val="3640"/>
              </a:lnSpc>
            </a:pPr>
            <a:r>
              <a:rPr lang="en-US" sz="2600" i="true">
                <a:solidFill>
                  <a:srgbClr val="000000"/>
                </a:solidFill>
                <a:latin typeface="Lato Italics"/>
                <a:ea typeface="Lato Italics"/>
                <a:cs typeface="Lato Italics"/>
                <a:sym typeface="Lato Italics"/>
              </a:rPr>
              <a:t>Le projet de Contrôle de l'Alimentation des Équipements Domestiques à Distance répond aux besoins actuels de gestion énergétique et de commodité en intégrant des technologies avancées. Grâce à une interface simple et des fonctionnalités efficaces, il offre une solution moderne et pratique pour contrôler et surveiller les équipements domestiques à distance.</a:t>
            </a:r>
          </a:p>
          <a:p>
            <a:pPr algn="l">
              <a:lnSpc>
                <a:spcPts val="2660"/>
              </a:lnSpc>
            </a:pPr>
          </a:p>
        </p:txBody>
      </p:sp>
      <p:sp>
        <p:nvSpPr>
          <p:cNvPr name="TextBox 11" id="11"/>
          <p:cNvSpPr txBox="true"/>
          <p:nvPr/>
        </p:nvSpPr>
        <p:spPr>
          <a:xfrm rot="0">
            <a:off x="8878696" y="828675"/>
            <a:ext cx="8380604" cy="3718903"/>
          </a:xfrm>
          <a:prstGeom prst="rect">
            <a:avLst/>
          </a:prstGeom>
        </p:spPr>
        <p:txBody>
          <a:bodyPr anchor="t" rtlCol="false" tIns="0" lIns="0" bIns="0" rIns="0">
            <a:spAutoFit/>
          </a:bodyPr>
          <a:lstStyle/>
          <a:p>
            <a:pPr algn="l">
              <a:lnSpc>
                <a:spcPts val="14996"/>
              </a:lnSpc>
            </a:pPr>
            <a:r>
              <a:rPr lang="en-US" sz="10711" spc="-353" b="true">
                <a:solidFill>
                  <a:srgbClr val="000000"/>
                </a:solidFill>
                <a:latin typeface="Roboto Bold"/>
                <a:ea typeface="Roboto Bold"/>
                <a:cs typeface="Roboto Bold"/>
                <a:sym typeface="Roboto Bold"/>
              </a:rPr>
              <a:t>CONCLUSION</a:t>
            </a:r>
          </a:p>
          <a:p>
            <a:pPr algn="l">
              <a:lnSpc>
                <a:spcPts val="14996"/>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854241" cy="10287000"/>
            <a:chOff x="0" y="0"/>
            <a:chExt cx="858698" cy="3094842"/>
          </a:xfrm>
        </p:grpSpPr>
        <p:sp>
          <p:nvSpPr>
            <p:cNvPr name="Freeform 3" id="3"/>
            <p:cNvSpPr/>
            <p:nvPr/>
          </p:nvSpPr>
          <p:spPr>
            <a:xfrm flipH="false" flipV="false" rot="0">
              <a:off x="0" y="0"/>
              <a:ext cx="858698" cy="3094842"/>
            </a:xfrm>
            <a:custGeom>
              <a:avLst/>
              <a:gdLst/>
              <a:ahLst/>
              <a:cxnLst/>
              <a:rect r="r" b="b" t="t" l="l"/>
              <a:pathLst>
                <a:path h="3094842" w="858698">
                  <a:moveTo>
                    <a:pt x="0" y="0"/>
                  </a:moveTo>
                  <a:lnTo>
                    <a:pt x="858698" y="0"/>
                  </a:lnTo>
                  <a:lnTo>
                    <a:pt x="858698" y="3094842"/>
                  </a:lnTo>
                  <a:lnTo>
                    <a:pt x="0" y="3094842"/>
                  </a:lnTo>
                  <a:close/>
                </a:path>
              </a:pathLst>
            </a:custGeom>
            <a:solidFill>
              <a:srgbClr val="EBE2D6"/>
            </a:solidFill>
          </p:spPr>
        </p:sp>
        <p:sp>
          <p:nvSpPr>
            <p:cNvPr name="TextBox 4" id="4"/>
            <p:cNvSpPr txBox="true"/>
            <p:nvPr/>
          </p:nvSpPr>
          <p:spPr>
            <a:xfrm>
              <a:off x="0" y="-38100"/>
              <a:ext cx="858698" cy="313294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592811" y="3760558"/>
            <a:ext cx="716915" cy="715372"/>
            <a:chOff x="0" y="0"/>
            <a:chExt cx="828385" cy="826601"/>
          </a:xfrm>
        </p:grpSpPr>
        <p:sp>
          <p:nvSpPr>
            <p:cNvPr name="Freeform 6" id="6"/>
            <p:cNvSpPr/>
            <p:nvPr/>
          </p:nvSpPr>
          <p:spPr>
            <a:xfrm flipH="false" flipV="false" rot="0">
              <a:off x="0" y="0"/>
              <a:ext cx="828385" cy="826601"/>
            </a:xfrm>
            <a:custGeom>
              <a:avLst/>
              <a:gdLst/>
              <a:ahLst/>
              <a:cxnLst/>
              <a:rect r="r" b="b" t="t" l="l"/>
              <a:pathLst>
                <a:path h="826601" w="828385">
                  <a:moveTo>
                    <a:pt x="0" y="0"/>
                  </a:moveTo>
                  <a:lnTo>
                    <a:pt x="828385" y="0"/>
                  </a:lnTo>
                  <a:lnTo>
                    <a:pt x="828385" y="826601"/>
                  </a:lnTo>
                  <a:lnTo>
                    <a:pt x="0" y="826601"/>
                  </a:lnTo>
                  <a:close/>
                </a:path>
              </a:pathLst>
            </a:custGeom>
            <a:solidFill>
              <a:srgbClr val="0C0015"/>
            </a:solidFill>
          </p:spPr>
        </p:sp>
        <p:sp>
          <p:nvSpPr>
            <p:cNvPr name="TextBox 7" id="7"/>
            <p:cNvSpPr txBox="true"/>
            <p:nvPr/>
          </p:nvSpPr>
          <p:spPr>
            <a:xfrm>
              <a:off x="0" y="-38100"/>
              <a:ext cx="828385" cy="86470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592811" y="6974178"/>
            <a:ext cx="716915" cy="715372"/>
            <a:chOff x="0" y="0"/>
            <a:chExt cx="828385" cy="826601"/>
          </a:xfrm>
        </p:grpSpPr>
        <p:sp>
          <p:nvSpPr>
            <p:cNvPr name="Freeform 9" id="9"/>
            <p:cNvSpPr/>
            <p:nvPr/>
          </p:nvSpPr>
          <p:spPr>
            <a:xfrm flipH="false" flipV="false" rot="0">
              <a:off x="0" y="0"/>
              <a:ext cx="828385" cy="826601"/>
            </a:xfrm>
            <a:custGeom>
              <a:avLst/>
              <a:gdLst/>
              <a:ahLst/>
              <a:cxnLst/>
              <a:rect r="r" b="b" t="t" l="l"/>
              <a:pathLst>
                <a:path h="826601" w="828385">
                  <a:moveTo>
                    <a:pt x="0" y="0"/>
                  </a:moveTo>
                  <a:lnTo>
                    <a:pt x="828385" y="0"/>
                  </a:lnTo>
                  <a:lnTo>
                    <a:pt x="828385" y="826601"/>
                  </a:lnTo>
                  <a:lnTo>
                    <a:pt x="0" y="826601"/>
                  </a:lnTo>
                  <a:close/>
                </a:path>
              </a:pathLst>
            </a:custGeom>
            <a:solidFill>
              <a:srgbClr val="0C0015"/>
            </a:solidFill>
          </p:spPr>
        </p:sp>
        <p:sp>
          <p:nvSpPr>
            <p:cNvPr name="TextBox 10" id="10"/>
            <p:cNvSpPr txBox="true"/>
            <p:nvPr/>
          </p:nvSpPr>
          <p:spPr>
            <a:xfrm>
              <a:off x="0" y="-38100"/>
              <a:ext cx="828385" cy="86470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2419460" y="3760558"/>
            <a:ext cx="716915" cy="715372"/>
            <a:chOff x="0" y="0"/>
            <a:chExt cx="828385" cy="826601"/>
          </a:xfrm>
        </p:grpSpPr>
        <p:sp>
          <p:nvSpPr>
            <p:cNvPr name="Freeform 12" id="12"/>
            <p:cNvSpPr/>
            <p:nvPr/>
          </p:nvSpPr>
          <p:spPr>
            <a:xfrm flipH="false" flipV="false" rot="0">
              <a:off x="0" y="0"/>
              <a:ext cx="828385" cy="826601"/>
            </a:xfrm>
            <a:custGeom>
              <a:avLst/>
              <a:gdLst/>
              <a:ahLst/>
              <a:cxnLst/>
              <a:rect r="r" b="b" t="t" l="l"/>
              <a:pathLst>
                <a:path h="826601" w="828385">
                  <a:moveTo>
                    <a:pt x="0" y="0"/>
                  </a:moveTo>
                  <a:lnTo>
                    <a:pt x="828385" y="0"/>
                  </a:lnTo>
                  <a:lnTo>
                    <a:pt x="828385" y="826601"/>
                  </a:lnTo>
                  <a:lnTo>
                    <a:pt x="0" y="826601"/>
                  </a:lnTo>
                  <a:close/>
                </a:path>
              </a:pathLst>
            </a:custGeom>
            <a:solidFill>
              <a:srgbClr val="0C0015"/>
            </a:solidFill>
          </p:spPr>
        </p:sp>
        <p:sp>
          <p:nvSpPr>
            <p:cNvPr name="TextBox 13" id="13"/>
            <p:cNvSpPr txBox="true"/>
            <p:nvPr/>
          </p:nvSpPr>
          <p:spPr>
            <a:xfrm>
              <a:off x="0" y="-38100"/>
              <a:ext cx="828385" cy="864701"/>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2419460" y="6974178"/>
            <a:ext cx="716915" cy="715372"/>
            <a:chOff x="0" y="0"/>
            <a:chExt cx="828385" cy="826601"/>
          </a:xfrm>
        </p:grpSpPr>
        <p:sp>
          <p:nvSpPr>
            <p:cNvPr name="Freeform 15" id="15"/>
            <p:cNvSpPr/>
            <p:nvPr/>
          </p:nvSpPr>
          <p:spPr>
            <a:xfrm flipH="false" flipV="false" rot="0">
              <a:off x="0" y="0"/>
              <a:ext cx="828385" cy="826601"/>
            </a:xfrm>
            <a:custGeom>
              <a:avLst/>
              <a:gdLst/>
              <a:ahLst/>
              <a:cxnLst/>
              <a:rect r="r" b="b" t="t" l="l"/>
              <a:pathLst>
                <a:path h="826601" w="828385">
                  <a:moveTo>
                    <a:pt x="0" y="0"/>
                  </a:moveTo>
                  <a:lnTo>
                    <a:pt x="828385" y="0"/>
                  </a:lnTo>
                  <a:lnTo>
                    <a:pt x="828385" y="826601"/>
                  </a:lnTo>
                  <a:lnTo>
                    <a:pt x="0" y="826601"/>
                  </a:lnTo>
                  <a:close/>
                </a:path>
              </a:pathLst>
            </a:custGeom>
            <a:solidFill>
              <a:srgbClr val="0C0015"/>
            </a:solidFill>
          </p:spPr>
        </p:sp>
        <p:sp>
          <p:nvSpPr>
            <p:cNvPr name="TextBox 16" id="16"/>
            <p:cNvSpPr txBox="true"/>
            <p:nvPr/>
          </p:nvSpPr>
          <p:spPr>
            <a:xfrm>
              <a:off x="0" y="-38100"/>
              <a:ext cx="828385" cy="864701"/>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028700" y="5197179"/>
            <a:ext cx="4829175" cy="4037184"/>
            <a:chOff x="0" y="0"/>
            <a:chExt cx="748166" cy="625465"/>
          </a:xfrm>
        </p:grpSpPr>
        <p:sp>
          <p:nvSpPr>
            <p:cNvPr name="Freeform 18" id="18"/>
            <p:cNvSpPr/>
            <p:nvPr/>
          </p:nvSpPr>
          <p:spPr>
            <a:xfrm flipH="false" flipV="false" rot="0">
              <a:off x="0" y="0"/>
              <a:ext cx="748166" cy="625465"/>
            </a:xfrm>
            <a:custGeom>
              <a:avLst/>
              <a:gdLst/>
              <a:ahLst/>
              <a:cxnLst/>
              <a:rect r="r" b="b" t="t" l="l"/>
              <a:pathLst>
                <a:path h="625465" w="748166">
                  <a:moveTo>
                    <a:pt x="0" y="0"/>
                  </a:moveTo>
                  <a:lnTo>
                    <a:pt x="748166" y="0"/>
                  </a:lnTo>
                  <a:lnTo>
                    <a:pt x="748166" y="625465"/>
                  </a:lnTo>
                  <a:lnTo>
                    <a:pt x="0" y="625465"/>
                  </a:lnTo>
                  <a:close/>
                </a:path>
              </a:pathLst>
            </a:custGeom>
            <a:blipFill>
              <a:blip r:embed="rId2"/>
              <a:stretch>
                <a:fillRect l="-77136" t="-102643" r="-77136" b="0"/>
              </a:stretch>
            </a:blipFill>
          </p:spPr>
        </p:sp>
      </p:grpSp>
      <p:grpSp>
        <p:nvGrpSpPr>
          <p:cNvPr name="Group 19" id="19"/>
          <p:cNvGrpSpPr/>
          <p:nvPr/>
        </p:nvGrpSpPr>
        <p:grpSpPr>
          <a:xfrm rot="0">
            <a:off x="1066800" y="1028700"/>
            <a:ext cx="4829175" cy="4037184"/>
            <a:chOff x="0" y="0"/>
            <a:chExt cx="748166" cy="625465"/>
          </a:xfrm>
        </p:grpSpPr>
        <p:sp>
          <p:nvSpPr>
            <p:cNvPr name="Freeform 20" id="20"/>
            <p:cNvSpPr/>
            <p:nvPr/>
          </p:nvSpPr>
          <p:spPr>
            <a:xfrm flipH="false" flipV="false" rot="0">
              <a:off x="0" y="0"/>
              <a:ext cx="748166" cy="625465"/>
            </a:xfrm>
            <a:custGeom>
              <a:avLst/>
              <a:gdLst/>
              <a:ahLst/>
              <a:cxnLst/>
              <a:rect r="r" b="b" t="t" l="l"/>
              <a:pathLst>
                <a:path h="625465" w="748166">
                  <a:moveTo>
                    <a:pt x="0" y="0"/>
                  </a:moveTo>
                  <a:lnTo>
                    <a:pt x="748166" y="0"/>
                  </a:lnTo>
                  <a:lnTo>
                    <a:pt x="748166" y="625465"/>
                  </a:lnTo>
                  <a:lnTo>
                    <a:pt x="0" y="625465"/>
                  </a:lnTo>
                  <a:close/>
                </a:path>
              </a:pathLst>
            </a:custGeom>
            <a:blipFill>
              <a:blip r:embed="rId3"/>
              <a:stretch>
                <a:fillRect l="-77354" t="0" r="-77354" b="-102990"/>
              </a:stretch>
            </a:blipFill>
          </p:spPr>
        </p:sp>
      </p:grpSp>
      <p:grpSp>
        <p:nvGrpSpPr>
          <p:cNvPr name="Group 21" id="21"/>
          <p:cNvGrpSpPr/>
          <p:nvPr/>
        </p:nvGrpSpPr>
        <p:grpSpPr>
          <a:xfrm rot="0">
            <a:off x="17349683" y="9345065"/>
            <a:ext cx="423967" cy="427585"/>
            <a:chOff x="0" y="0"/>
            <a:chExt cx="205716" cy="207472"/>
          </a:xfrm>
        </p:grpSpPr>
        <p:sp>
          <p:nvSpPr>
            <p:cNvPr name="Freeform 22" id="22"/>
            <p:cNvSpPr/>
            <p:nvPr/>
          </p:nvSpPr>
          <p:spPr>
            <a:xfrm flipH="false" flipV="false" rot="0">
              <a:off x="0" y="0"/>
              <a:ext cx="205716" cy="207472"/>
            </a:xfrm>
            <a:custGeom>
              <a:avLst/>
              <a:gdLst/>
              <a:ahLst/>
              <a:cxnLst/>
              <a:rect r="r" b="b" t="t" l="l"/>
              <a:pathLst>
                <a:path h="207472" w="205716">
                  <a:moveTo>
                    <a:pt x="0" y="0"/>
                  </a:moveTo>
                  <a:lnTo>
                    <a:pt x="205716" y="0"/>
                  </a:lnTo>
                  <a:lnTo>
                    <a:pt x="205716" y="207472"/>
                  </a:lnTo>
                  <a:lnTo>
                    <a:pt x="0" y="207472"/>
                  </a:lnTo>
                  <a:close/>
                </a:path>
              </a:pathLst>
            </a:custGeom>
            <a:solidFill>
              <a:srgbClr val="000000">
                <a:alpha val="0"/>
              </a:srgbClr>
            </a:solidFill>
          </p:spPr>
        </p:sp>
        <p:sp>
          <p:nvSpPr>
            <p:cNvPr name="TextBox 23" id="23"/>
            <p:cNvSpPr txBox="true"/>
            <p:nvPr/>
          </p:nvSpPr>
          <p:spPr>
            <a:xfrm>
              <a:off x="0" y="-38100"/>
              <a:ext cx="205716" cy="245572"/>
            </a:xfrm>
            <a:prstGeom prst="rect">
              <a:avLst/>
            </a:prstGeom>
          </p:spPr>
          <p:txBody>
            <a:bodyPr anchor="ctr" rtlCol="false" tIns="50800" lIns="50800" bIns="50800" rIns="50800"/>
            <a:lstStyle/>
            <a:p>
              <a:pPr algn="ctr">
                <a:lnSpc>
                  <a:spcPts val="2100"/>
                </a:lnSpc>
              </a:pPr>
              <a:r>
                <a:rPr lang="en-US" sz="1500">
                  <a:solidFill>
                    <a:srgbClr val="000000"/>
                  </a:solidFill>
                  <a:latin typeface="Lato"/>
                  <a:ea typeface="Lato"/>
                  <a:cs typeface="Lato"/>
                  <a:sym typeface="Lato"/>
                </a:rPr>
                <a:t>15</a:t>
              </a:r>
            </a:p>
          </p:txBody>
        </p:sp>
      </p:grpSp>
      <p:sp>
        <p:nvSpPr>
          <p:cNvPr name="TextBox 24" id="24"/>
          <p:cNvSpPr txBox="true"/>
          <p:nvPr/>
        </p:nvSpPr>
        <p:spPr>
          <a:xfrm rot="0">
            <a:off x="7445961" y="4131919"/>
            <a:ext cx="3540121" cy="1851659"/>
          </a:xfrm>
          <a:prstGeom prst="rect">
            <a:avLst/>
          </a:prstGeom>
        </p:spPr>
        <p:txBody>
          <a:bodyPr anchor="t" rtlCol="false" tIns="0" lIns="0" bIns="0" rIns="0">
            <a:spAutoFit/>
          </a:bodyPr>
          <a:lstStyle/>
          <a:p>
            <a:pPr algn="l">
              <a:lnSpc>
                <a:spcPts val="2940"/>
              </a:lnSpc>
            </a:pPr>
            <a:r>
              <a:rPr lang="en-US" sz="2100">
                <a:solidFill>
                  <a:srgbClr val="000000"/>
                </a:solidFill>
                <a:latin typeface="Lato"/>
                <a:ea typeface="Lato"/>
                <a:cs typeface="Lato"/>
                <a:sym typeface="Lato"/>
              </a:rPr>
              <a:t>Intégration de la reconnaissance faciale pour un accès encore plus personnalisé.</a:t>
            </a:r>
          </a:p>
          <a:p>
            <a:pPr algn="l">
              <a:lnSpc>
                <a:spcPts val="2940"/>
              </a:lnSpc>
            </a:pPr>
          </a:p>
        </p:txBody>
      </p:sp>
      <p:sp>
        <p:nvSpPr>
          <p:cNvPr name="TextBox 25" id="25"/>
          <p:cNvSpPr txBox="true"/>
          <p:nvPr/>
        </p:nvSpPr>
        <p:spPr>
          <a:xfrm rot="0">
            <a:off x="11552082" y="876300"/>
            <a:ext cx="6381614" cy="2628588"/>
          </a:xfrm>
          <a:prstGeom prst="rect">
            <a:avLst/>
          </a:prstGeom>
        </p:spPr>
        <p:txBody>
          <a:bodyPr anchor="t" rtlCol="false" tIns="0" lIns="0" bIns="0" rIns="0">
            <a:spAutoFit/>
          </a:bodyPr>
          <a:lstStyle/>
          <a:p>
            <a:pPr algn="r">
              <a:lnSpc>
                <a:spcPts val="10517"/>
              </a:lnSpc>
            </a:pPr>
            <a:r>
              <a:rPr lang="en-US" b="true" sz="7512" spc="-247">
                <a:solidFill>
                  <a:srgbClr val="000000"/>
                </a:solidFill>
                <a:latin typeface="Roboto Bold"/>
                <a:ea typeface="Roboto Bold"/>
                <a:cs typeface="Roboto Bold"/>
                <a:sym typeface="Roboto Bold"/>
              </a:rPr>
              <a:t>PERSPECTIVES</a:t>
            </a:r>
          </a:p>
          <a:p>
            <a:pPr algn="r">
              <a:lnSpc>
                <a:spcPts val="10517"/>
              </a:lnSpc>
            </a:pPr>
          </a:p>
        </p:txBody>
      </p:sp>
      <p:sp>
        <p:nvSpPr>
          <p:cNvPr name="TextBox 26" id="26"/>
          <p:cNvSpPr txBox="true"/>
          <p:nvPr/>
        </p:nvSpPr>
        <p:spPr>
          <a:xfrm rot="0">
            <a:off x="12226478" y="2104713"/>
            <a:ext cx="5032822" cy="424813"/>
          </a:xfrm>
          <a:prstGeom prst="rect">
            <a:avLst/>
          </a:prstGeom>
        </p:spPr>
        <p:txBody>
          <a:bodyPr anchor="t" rtlCol="false" tIns="0" lIns="0" bIns="0" rIns="0">
            <a:spAutoFit/>
          </a:bodyPr>
          <a:lstStyle/>
          <a:p>
            <a:pPr algn="r">
              <a:lnSpc>
                <a:spcPts val="3360"/>
              </a:lnSpc>
            </a:pPr>
            <a:r>
              <a:rPr lang="en-US" sz="2400">
                <a:solidFill>
                  <a:srgbClr val="000000"/>
                </a:solidFill>
                <a:latin typeface="Poppins"/>
                <a:ea typeface="Poppins"/>
                <a:cs typeface="Poppins"/>
                <a:sym typeface="Poppins"/>
              </a:rPr>
              <a:t>L'AVENIR EN PERSPECTIVE</a:t>
            </a:r>
          </a:p>
        </p:txBody>
      </p:sp>
      <p:sp>
        <p:nvSpPr>
          <p:cNvPr name="TextBox 27" id="27"/>
          <p:cNvSpPr txBox="true"/>
          <p:nvPr/>
        </p:nvSpPr>
        <p:spPr>
          <a:xfrm rot="0">
            <a:off x="7415240" y="3693883"/>
            <a:ext cx="3993001" cy="737601"/>
          </a:xfrm>
          <a:prstGeom prst="rect">
            <a:avLst/>
          </a:prstGeom>
        </p:spPr>
        <p:txBody>
          <a:bodyPr anchor="t" rtlCol="false" tIns="0" lIns="0" bIns="0" rIns="0">
            <a:spAutoFit/>
          </a:bodyPr>
          <a:lstStyle/>
          <a:p>
            <a:pPr algn="l">
              <a:lnSpc>
                <a:spcPts val="2919"/>
              </a:lnSpc>
            </a:pPr>
            <a:r>
              <a:rPr lang="en-US" sz="2085" b="true">
                <a:solidFill>
                  <a:srgbClr val="000000"/>
                </a:solidFill>
                <a:latin typeface="Poppins Bold"/>
                <a:ea typeface="Poppins Bold"/>
                <a:cs typeface="Poppins Bold"/>
                <a:sym typeface="Poppins Bold"/>
              </a:rPr>
              <a:t>RECONNAISSANCE FACIALE</a:t>
            </a:r>
          </a:p>
          <a:p>
            <a:pPr algn="l">
              <a:lnSpc>
                <a:spcPts val="2919"/>
              </a:lnSpc>
            </a:pPr>
          </a:p>
        </p:txBody>
      </p:sp>
      <p:sp>
        <p:nvSpPr>
          <p:cNvPr name="TextBox 28" id="28"/>
          <p:cNvSpPr txBox="true"/>
          <p:nvPr/>
        </p:nvSpPr>
        <p:spPr>
          <a:xfrm rot="0">
            <a:off x="6691462" y="3886457"/>
            <a:ext cx="519614" cy="463573"/>
          </a:xfrm>
          <a:prstGeom prst="rect">
            <a:avLst/>
          </a:prstGeom>
        </p:spPr>
        <p:txBody>
          <a:bodyPr anchor="t" rtlCol="false" tIns="0" lIns="0" bIns="0" rIns="0">
            <a:spAutoFit/>
          </a:bodyPr>
          <a:lstStyle/>
          <a:p>
            <a:pPr algn="ctr">
              <a:lnSpc>
                <a:spcPts val="3393"/>
              </a:lnSpc>
            </a:pPr>
            <a:r>
              <a:rPr lang="en-US" sz="3057" b="true">
                <a:solidFill>
                  <a:srgbClr val="FFFFFF"/>
                </a:solidFill>
                <a:latin typeface="Poppins Bold"/>
                <a:ea typeface="Poppins Bold"/>
                <a:cs typeface="Poppins Bold"/>
                <a:sym typeface="Poppins Bold"/>
              </a:rPr>
              <a:t>1</a:t>
            </a:r>
          </a:p>
        </p:txBody>
      </p:sp>
      <p:sp>
        <p:nvSpPr>
          <p:cNvPr name="TextBox 29" id="29"/>
          <p:cNvSpPr txBox="true"/>
          <p:nvPr/>
        </p:nvSpPr>
        <p:spPr>
          <a:xfrm rot="0">
            <a:off x="7445961" y="7345539"/>
            <a:ext cx="3540121" cy="1480184"/>
          </a:xfrm>
          <a:prstGeom prst="rect">
            <a:avLst/>
          </a:prstGeom>
        </p:spPr>
        <p:txBody>
          <a:bodyPr anchor="t" rtlCol="false" tIns="0" lIns="0" bIns="0" rIns="0">
            <a:spAutoFit/>
          </a:bodyPr>
          <a:lstStyle/>
          <a:p>
            <a:pPr algn="l">
              <a:lnSpc>
                <a:spcPts val="2940"/>
              </a:lnSpc>
            </a:pPr>
            <a:r>
              <a:rPr lang="en-US" sz="2100">
                <a:solidFill>
                  <a:srgbClr val="000000"/>
                </a:solidFill>
                <a:latin typeface="Lato"/>
                <a:ea typeface="Lato"/>
                <a:cs typeface="Lato"/>
                <a:sym typeface="Lato"/>
              </a:rPr>
              <a:t>Ajout de la biométrie pour une authentification rapide et fiable</a:t>
            </a:r>
          </a:p>
          <a:p>
            <a:pPr algn="l">
              <a:lnSpc>
                <a:spcPts val="2940"/>
              </a:lnSpc>
            </a:pPr>
          </a:p>
        </p:txBody>
      </p:sp>
      <p:sp>
        <p:nvSpPr>
          <p:cNvPr name="TextBox 30" id="30"/>
          <p:cNvSpPr txBox="true"/>
          <p:nvPr/>
        </p:nvSpPr>
        <p:spPr>
          <a:xfrm rot="0">
            <a:off x="7415240" y="6907503"/>
            <a:ext cx="3601563" cy="737601"/>
          </a:xfrm>
          <a:prstGeom prst="rect">
            <a:avLst/>
          </a:prstGeom>
        </p:spPr>
        <p:txBody>
          <a:bodyPr anchor="t" rtlCol="false" tIns="0" lIns="0" bIns="0" rIns="0">
            <a:spAutoFit/>
          </a:bodyPr>
          <a:lstStyle/>
          <a:p>
            <a:pPr algn="l">
              <a:lnSpc>
                <a:spcPts val="2919"/>
              </a:lnSpc>
            </a:pPr>
            <a:r>
              <a:rPr lang="en-US" sz="2085" b="true">
                <a:solidFill>
                  <a:srgbClr val="000000"/>
                </a:solidFill>
                <a:latin typeface="Poppins Bold"/>
                <a:ea typeface="Poppins Bold"/>
                <a:cs typeface="Poppins Bold"/>
                <a:sym typeface="Poppins Bold"/>
              </a:rPr>
              <a:t>FINGERPRINT SENSOR</a:t>
            </a:r>
          </a:p>
          <a:p>
            <a:pPr algn="l">
              <a:lnSpc>
                <a:spcPts val="2919"/>
              </a:lnSpc>
            </a:pPr>
          </a:p>
        </p:txBody>
      </p:sp>
      <p:sp>
        <p:nvSpPr>
          <p:cNvPr name="TextBox 31" id="31"/>
          <p:cNvSpPr txBox="true"/>
          <p:nvPr/>
        </p:nvSpPr>
        <p:spPr>
          <a:xfrm rot="0">
            <a:off x="6691462" y="7100077"/>
            <a:ext cx="519614" cy="463573"/>
          </a:xfrm>
          <a:prstGeom prst="rect">
            <a:avLst/>
          </a:prstGeom>
        </p:spPr>
        <p:txBody>
          <a:bodyPr anchor="t" rtlCol="false" tIns="0" lIns="0" bIns="0" rIns="0">
            <a:spAutoFit/>
          </a:bodyPr>
          <a:lstStyle/>
          <a:p>
            <a:pPr algn="ctr">
              <a:lnSpc>
                <a:spcPts val="3393"/>
              </a:lnSpc>
            </a:pPr>
            <a:r>
              <a:rPr lang="en-US" sz="3057" b="true">
                <a:solidFill>
                  <a:srgbClr val="FFFFFF"/>
                </a:solidFill>
                <a:latin typeface="Poppins Bold"/>
                <a:ea typeface="Poppins Bold"/>
                <a:cs typeface="Poppins Bold"/>
                <a:sym typeface="Poppins Bold"/>
              </a:rPr>
              <a:t>3</a:t>
            </a:r>
          </a:p>
        </p:txBody>
      </p:sp>
      <p:sp>
        <p:nvSpPr>
          <p:cNvPr name="TextBox 32" id="32"/>
          <p:cNvSpPr txBox="true"/>
          <p:nvPr/>
        </p:nvSpPr>
        <p:spPr>
          <a:xfrm rot="0">
            <a:off x="13272610" y="4131919"/>
            <a:ext cx="3540121" cy="1480184"/>
          </a:xfrm>
          <a:prstGeom prst="rect">
            <a:avLst/>
          </a:prstGeom>
        </p:spPr>
        <p:txBody>
          <a:bodyPr anchor="t" rtlCol="false" tIns="0" lIns="0" bIns="0" rIns="0">
            <a:spAutoFit/>
          </a:bodyPr>
          <a:lstStyle/>
          <a:p>
            <a:pPr algn="l">
              <a:lnSpc>
                <a:spcPts val="2940"/>
              </a:lnSpc>
            </a:pPr>
            <a:r>
              <a:rPr lang="en-US" sz="2100">
                <a:solidFill>
                  <a:srgbClr val="000000"/>
                </a:solidFill>
                <a:latin typeface="Lato"/>
                <a:ea typeface="Lato"/>
                <a:cs typeface="Lato"/>
                <a:sym typeface="Lato"/>
              </a:rPr>
              <a:t>Amélioration de l' application mobile avec des statistiques d' utilisation</a:t>
            </a:r>
          </a:p>
          <a:p>
            <a:pPr algn="l">
              <a:lnSpc>
                <a:spcPts val="2940"/>
              </a:lnSpc>
            </a:pPr>
          </a:p>
        </p:txBody>
      </p:sp>
      <p:sp>
        <p:nvSpPr>
          <p:cNvPr name="TextBox 33" id="33"/>
          <p:cNvSpPr txBox="true"/>
          <p:nvPr/>
        </p:nvSpPr>
        <p:spPr>
          <a:xfrm rot="0">
            <a:off x="13241889" y="3693883"/>
            <a:ext cx="4531761" cy="737601"/>
          </a:xfrm>
          <a:prstGeom prst="rect">
            <a:avLst/>
          </a:prstGeom>
        </p:spPr>
        <p:txBody>
          <a:bodyPr anchor="t" rtlCol="false" tIns="0" lIns="0" bIns="0" rIns="0">
            <a:spAutoFit/>
          </a:bodyPr>
          <a:lstStyle/>
          <a:p>
            <a:pPr algn="l">
              <a:lnSpc>
                <a:spcPts val="2919"/>
              </a:lnSpc>
            </a:pPr>
            <a:r>
              <a:rPr lang="en-US" sz="2085" b="true">
                <a:solidFill>
                  <a:srgbClr val="000000"/>
                </a:solidFill>
                <a:latin typeface="Poppins Bold"/>
                <a:ea typeface="Poppins Bold"/>
                <a:cs typeface="Poppins Bold"/>
                <a:sym typeface="Poppins Bold"/>
              </a:rPr>
              <a:t>AMELORATION DE L’APPLICATION</a:t>
            </a:r>
          </a:p>
          <a:p>
            <a:pPr algn="l">
              <a:lnSpc>
                <a:spcPts val="2919"/>
              </a:lnSpc>
            </a:pPr>
          </a:p>
        </p:txBody>
      </p:sp>
      <p:sp>
        <p:nvSpPr>
          <p:cNvPr name="TextBox 34" id="34"/>
          <p:cNvSpPr txBox="true"/>
          <p:nvPr/>
        </p:nvSpPr>
        <p:spPr>
          <a:xfrm rot="0">
            <a:off x="12518111" y="3886457"/>
            <a:ext cx="519614" cy="463573"/>
          </a:xfrm>
          <a:prstGeom prst="rect">
            <a:avLst/>
          </a:prstGeom>
        </p:spPr>
        <p:txBody>
          <a:bodyPr anchor="t" rtlCol="false" tIns="0" lIns="0" bIns="0" rIns="0">
            <a:spAutoFit/>
          </a:bodyPr>
          <a:lstStyle/>
          <a:p>
            <a:pPr algn="ctr">
              <a:lnSpc>
                <a:spcPts val="3393"/>
              </a:lnSpc>
            </a:pPr>
            <a:r>
              <a:rPr lang="en-US" sz="3057" b="true">
                <a:solidFill>
                  <a:srgbClr val="FFFFFF"/>
                </a:solidFill>
                <a:latin typeface="Poppins Bold"/>
                <a:ea typeface="Poppins Bold"/>
                <a:cs typeface="Poppins Bold"/>
                <a:sym typeface="Poppins Bold"/>
              </a:rPr>
              <a:t>2</a:t>
            </a:r>
          </a:p>
        </p:txBody>
      </p:sp>
      <p:sp>
        <p:nvSpPr>
          <p:cNvPr name="TextBox 35" id="35"/>
          <p:cNvSpPr txBox="true"/>
          <p:nvPr/>
        </p:nvSpPr>
        <p:spPr>
          <a:xfrm rot="0">
            <a:off x="13272610" y="7345539"/>
            <a:ext cx="3540121" cy="2223134"/>
          </a:xfrm>
          <a:prstGeom prst="rect">
            <a:avLst/>
          </a:prstGeom>
        </p:spPr>
        <p:txBody>
          <a:bodyPr anchor="t" rtlCol="false" tIns="0" lIns="0" bIns="0" rIns="0">
            <a:spAutoFit/>
          </a:bodyPr>
          <a:lstStyle/>
          <a:p>
            <a:pPr algn="l">
              <a:lnSpc>
                <a:spcPts val="2940"/>
              </a:lnSpc>
            </a:pPr>
            <a:r>
              <a:rPr lang="en-US" sz="2100">
                <a:solidFill>
                  <a:srgbClr val="000000"/>
                </a:solidFill>
                <a:latin typeface="Lato"/>
                <a:ea typeface="Lato"/>
                <a:cs typeface="Lato"/>
                <a:sym typeface="Lato"/>
              </a:rPr>
              <a:t>Ajouter un module Bluetooth pour permettre une connexion mobile à </a:t>
            </a:r>
          </a:p>
          <a:p>
            <a:pPr algn="l">
              <a:lnSpc>
                <a:spcPts val="2940"/>
              </a:lnSpc>
            </a:pPr>
            <a:r>
              <a:rPr lang="en-US" sz="2100">
                <a:solidFill>
                  <a:srgbClr val="000000"/>
                </a:solidFill>
                <a:latin typeface="Lato"/>
                <a:ea typeface="Lato"/>
                <a:cs typeface="Lato"/>
                <a:sym typeface="Lato"/>
              </a:rPr>
              <a:t>courte distance en cas de perte d' accès internet.</a:t>
            </a:r>
          </a:p>
          <a:p>
            <a:pPr algn="l">
              <a:lnSpc>
                <a:spcPts val="2940"/>
              </a:lnSpc>
            </a:pPr>
          </a:p>
        </p:txBody>
      </p:sp>
      <p:sp>
        <p:nvSpPr>
          <p:cNvPr name="TextBox 36" id="36"/>
          <p:cNvSpPr txBox="true"/>
          <p:nvPr/>
        </p:nvSpPr>
        <p:spPr>
          <a:xfrm rot="0">
            <a:off x="13241889" y="6907503"/>
            <a:ext cx="3601563" cy="737601"/>
          </a:xfrm>
          <a:prstGeom prst="rect">
            <a:avLst/>
          </a:prstGeom>
        </p:spPr>
        <p:txBody>
          <a:bodyPr anchor="t" rtlCol="false" tIns="0" lIns="0" bIns="0" rIns="0">
            <a:spAutoFit/>
          </a:bodyPr>
          <a:lstStyle/>
          <a:p>
            <a:pPr algn="l">
              <a:lnSpc>
                <a:spcPts val="2919"/>
              </a:lnSpc>
            </a:pPr>
            <a:r>
              <a:rPr lang="en-US" sz="2085" b="true">
                <a:solidFill>
                  <a:srgbClr val="000000"/>
                </a:solidFill>
                <a:latin typeface="Poppins Bold"/>
                <a:ea typeface="Poppins Bold"/>
                <a:cs typeface="Poppins Bold"/>
                <a:sym typeface="Poppins Bold"/>
              </a:rPr>
              <a:t>BLUETOOTH</a:t>
            </a:r>
          </a:p>
          <a:p>
            <a:pPr algn="l">
              <a:lnSpc>
                <a:spcPts val="2919"/>
              </a:lnSpc>
            </a:pPr>
          </a:p>
        </p:txBody>
      </p:sp>
      <p:sp>
        <p:nvSpPr>
          <p:cNvPr name="TextBox 37" id="37"/>
          <p:cNvSpPr txBox="true"/>
          <p:nvPr/>
        </p:nvSpPr>
        <p:spPr>
          <a:xfrm rot="0">
            <a:off x="12518111" y="7100077"/>
            <a:ext cx="519614" cy="463573"/>
          </a:xfrm>
          <a:prstGeom prst="rect">
            <a:avLst/>
          </a:prstGeom>
        </p:spPr>
        <p:txBody>
          <a:bodyPr anchor="t" rtlCol="false" tIns="0" lIns="0" bIns="0" rIns="0">
            <a:spAutoFit/>
          </a:bodyPr>
          <a:lstStyle/>
          <a:p>
            <a:pPr algn="ctr">
              <a:lnSpc>
                <a:spcPts val="3393"/>
              </a:lnSpc>
            </a:pPr>
            <a:r>
              <a:rPr lang="en-US" sz="3057" b="true">
                <a:solidFill>
                  <a:srgbClr val="FFFFFF"/>
                </a:solidFill>
                <a:latin typeface="Poppins Bold"/>
                <a:ea typeface="Poppins Bold"/>
                <a:cs typeface="Poppins Bold"/>
                <a:sym typeface="Poppins Bold"/>
              </a:rPr>
              <a:t>4</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514350"/>
            <a:ext cx="17259300" cy="9258300"/>
            <a:chOff x="0" y="0"/>
            <a:chExt cx="5905866" cy="3168047"/>
          </a:xfrm>
        </p:grpSpPr>
        <p:sp>
          <p:nvSpPr>
            <p:cNvPr name="Freeform 3" id="3"/>
            <p:cNvSpPr/>
            <p:nvPr/>
          </p:nvSpPr>
          <p:spPr>
            <a:xfrm flipH="false" flipV="false" rot="0">
              <a:off x="0" y="0"/>
              <a:ext cx="5905866" cy="3168047"/>
            </a:xfrm>
            <a:custGeom>
              <a:avLst/>
              <a:gdLst/>
              <a:ahLst/>
              <a:cxnLst/>
              <a:rect r="r" b="b" t="t" l="l"/>
              <a:pathLst>
                <a:path h="3168047" w="5905866">
                  <a:moveTo>
                    <a:pt x="0" y="0"/>
                  </a:moveTo>
                  <a:lnTo>
                    <a:pt x="5905866" y="0"/>
                  </a:lnTo>
                  <a:lnTo>
                    <a:pt x="5905866" y="3168047"/>
                  </a:lnTo>
                  <a:lnTo>
                    <a:pt x="0" y="3168047"/>
                  </a:lnTo>
                  <a:close/>
                </a:path>
              </a:pathLst>
            </a:custGeom>
            <a:solidFill>
              <a:srgbClr val="EBE2D6"/>
            </a:solidFill>
          </p:spPr>
        </p:sp>
        <p:sp>
          <p:nvSpPr>
            <p:cNvPr name="TextBox 4" id="4"/>
            <p:cNvSpPr txBox="true"/>
            <p:nvPr/>
          </p:nvSpPr>
          <p:spPr>
            <a:xfrm>
              <a:off x="0" y="-38100"/>
              <a:ext cx="5905866" cy="320614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212498" y="8554757"/>
            <a:ext cx="3863003" cy="266699"/>
          </a:xfrm>
          <a:prstGeom prst="rect">
            <a:avLst/>
          </a:prstGeom>
        </p:spPr>
        <p:txBody>
          <a:bodyPr anchor="t" rtlCol="false" tIns="0" lIns="0" bIns="0" rIns="0">
            <a:spAutoFit/>
          </a:bodyPr>
          <a:lstStyle/>
          <a:p>
            <a:pPr algn="ctr">
              <a:lnSpc>
                <a:spcPts val="2100"/>
              </a:lnSpc>
            </a:pPr>
            <a:r>
              <a:rPr lang="en-US" sz="1500" b="true">
                <a:solidFill>
                  <a:srgbClr val="000000"/>
                </a:solidFill>
                <a:latin typeface="Lato Bold"/>
                <a:ea typeface="Lato Bold"/>
                <a:cs typeface="Lato Bold"/>
                <a:sym typeface="Lato Bold"/>
              </a:rPr>
              <a:t>Par Mehdi Mejri</a:t>
            </a:r>
          </a:p>
        </p:txBody>
      </p:sp>
      <p:sp>
        <p:nvSpPr>
          <p:cNvPr name="TextBox 6" id="6"/>
          <p:cNvSpPr txBox="true"/>
          <p:nvPr/>
        </p:nvSpPr>
        <p:spPr>
          <a:xfrm rot="0">
            <a:off x="5613977" y="3228975"/>
            <a:ext cx="7060045" cy="1823428"/>
          </a:xfrm>
          <a:prstGeom prst="rect">
            <a:avLst/>
          </a:prstGeom>
        </p:spPr>
        <p:txBody>
          <a:bodyPr anchor="t" rtlCol="false" tIns="0" lIns="0" bIns="0" rIns="0">
            <a:spAutoFit/>
          </a:bodyPr>
          <a:lstStyle/>
          <a:p>
            <a:pPr algn="ctr">
              <a:lnSpc>
                <a:spcPts val="14996"/>
              </a:lnSpc>
            </a:pPr>
            <a:r>
              <a:rPr lang="en-US" b="true" sz="10711" spc="-353">
                <a:solidFill>
                  <a:srgbClr val="000000"/>
                </a:solidFill>
                <a:latin typeface="Roboto Bold"/>
                <a:ea typeface="Roboto Bold"/>
                <a:cs typeface="Roboto Bold"/>
                <a:sym typeface="Roboto Bold"/>
              </a:rPr>
              <a:t>Merci.</a:t>
            </a:r>
          </a:p>
        </p:txBody>
      </p:sp>
      <p:sp>
        <p:nvSpPr>
          <p:cNvPr name="TextBox 7" id="7"/>
          <p:cNvSpPr txBox="true"/>
          <p:nvPr/>
        </p:nvSpPr>
        <p:spPr>
          <a:xfrm rot="0">
            <a:off x="5200021" y="4985728"/>
            <a:ext cx="7887958" cy="424813"/>
          </a:xfrm>
          <a:prstGeom prst="rect">
            <a:avLst/>
          </a:prstGeom>
        </p:spPr>
        <p:txBody>
          <a:bodyPr anchor="t" rtlCol="false" tIns="0" lIns="0" bIns="0" rIns="0">
            <a:spAutoFit/>
          </a:bodyPr>
          <a:lstStyle/>
          <a:p>
            <a:pPr algn="ctr">
              <a:lnSpc>
                <a:spcPts val="3360"/>
              </a:lnSpc>
            </a:pPr>
            <a:r>
              <a:rPr lang="en-US" sz="2400">
                <a:solidFill>
                  <a:srgbClr val="000000"/>
                </a:solidFill>
                <a:latin typeface="Poppins"/>
                <a:ea typeface="Poppins"/>
                <a:cs typeface="Poppins"/>
                <a:sym typeface="Poppins"/>
              </a:rPr>
              <a:t>JE VOUS REMERCIE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DAGaxkFDXIQ</dc:identifier>
  <dcterms:modified xsi:type="dcterms:W3CDTF">2011-08-01T06:04:30Z</dcterms:modified>
  <cp:revision>1</cp:revision>
  <dc:title>2024-2025</dc:title>
</cp:coreProperties>
</file>